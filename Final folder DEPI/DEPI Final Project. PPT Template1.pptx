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Aptos Black" panose="020B0004020202020204" pitchFamily="34" charset="0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9599EF21-CD1C-C36D-5FDC-6B4F9060F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9A21AA9-8ADF-B2C4-30B9-9CF5A19A4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419867D1-E8A7-07C0-6AB1-C501891FA9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2660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B8606292-4187-0A5F-873D-96BC4D988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84CF7647-E109-F987-5102-4E74928884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50825BA5-3267-3342-5743-E5E158EF7E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99729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64EF1A97-A3DD-F0D8-03CF-9E59EA184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B2CB5311-6E27-BA34-8F8F-70F8E1CC12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A5D4182C-EE67-126C-8C9D-699935A0A5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245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BAC79B00-9AF6-D211-7B4F-C3D9271A5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451B5F05-8AE6-317F-40F3-B94A5BFBD4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58BDB7A9-713A-66B0-49BB-947140CDD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0842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AABFA45C-B058-0C3A-C081-006D18914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BD11E825-F99F-DB49-9D8F-2F7332617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344D2D2A-24A1-AF9B-81F9-A807C4463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27815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68C45225-590F-07A7-42D5-7C3E3309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DC315058-FBFF-01A3-B069-3F66DE4AB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56265E2-B20A-0FC3-ED71-293E0FA6A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09006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86592713-B240-34B6-1CE0-9F2C3F9D0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8CE4DEA2-55E8-B677-92EB-AC83582D69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48D48140-BA85-59DA-F08B-EB43D6E72A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00363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2E847409-01FE-23AE-A3E8-85579FD9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3CBA6E6F-D772-2FF1-D482-96D63FD7F1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DA13B1B5-FD87-F5C9-8FA9-068E342241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9305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B10E9671-C8C8-0316-277D-609AE09F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3BF1DFEF-6684-C959-1532-B64E197D7D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08D7C370-8259-63FD-6E13-F48EA718CD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2024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Google Shape;13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tadoadel2005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10/14/24</a:t>
            </a:r>
            <a:endParaRPr/>
          </a:p>
        </p:txBody>
      </p:sp>
      <p:sp>
        <p:nvSpPr>
          <p:cNvPr id="106" name="Google Shape;106;p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EB698CA-093C-E3A9-2E06-B85995DF7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8C4ECA-A97A-8486-8275-94AB2DF209C2}"/>
              </a:ext>
            </a:extLst>
          </p:cNvPr>
          <p:cNvSpPr txBox="1"/>
          <p:nvPr/>
        </p:nvSpPr>
        <p:spPr>
          <a:xfrm>
            <a:off x="5545813" y="3258596"/>
            <a:ext cx="3507657" cy="101566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sz="2000" dirty="0"/>
              <a:t>1- Tadrous Adel William</a:t>
            </a:r>
          </a:p>
          <a:p>
            <a:r>
              <a:rPr lang="en-US" sz="2000" dirty="0"/>
              <a:t>2- Maria Ashraf Haleem</a:t>
            </a:r>
          </a:p>
          <a:p>
            <a:r>
              <a:rPr lang="en-US" sz="2000" dirty="0"/>
              <a:t>3- Abdelaziz Hassan Fouad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22CDFF-5953-0FD2-F756-13FAE7694EEF}"/>
              </a:ext>
            </a:extLst>
          </p:cNvPr>
          <p:cNvSpPr txBox="1"/>
          <p:nvPr/>
        </p:nvSpPr>
        <p:spPr>
          <a:xfrm>
            <a:off x="1474838" y="793574"/>
            <a:ext cx="85835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Land Type Classification using Sentinel-2 Satellite Images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33F0CE-A67C-10FA-0AA8-46B4686EB6EF}"/>
              </a:ext>
            </a:extLst>
          </p:cNvPr>
          <p:cNvSpPr txBox="1"/>
          <p:nvPr/>
        </p:nvSpPr>
        <p:spPr>
          <a:xfrm>
            <a:off x="9053470" y="3258595"/>
            <a:ext cx="31385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4- Karen Medhat Zaher</a:t>
            </a:r>
          </a:p>
          <a:p>
            <a:r>
              <a:rPr lang="en-US" sz="2000" dirty="0"/>
              <a:t>5- Mohamed Essam </a:t>
            </a:r>
          </a:p>
          <a:p>
            <a:r>
              <a:rPr lang="en-US" sz="2000" dirty="0"/>
              <a:t>6- Mohamed Kamal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EFC074-898C-DFB1-7B1C-02B655F0FC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95" y="2224735"/>
            <a:ext cx="4273062" cy="34030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396141AB-105B-1EFC-DD32-151096250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3622A872-1198-BBCD-0529-DEB8C524E74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10/14/24</a:t>
            </a:r>
            <a:endParaRPr dirty="0"/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F2794B7C-F39D-19C2-B5BB-08E3E3B7F50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A97B4F95-6E65-5429-E724-E04EF82E6F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5365030-22BE-FC70-D16F-966DEB9B9D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3116FC-E311-C6A0-6254-799525361BC5}"/>
              </a:ext>
            </a:extLst>
          </p:cNvPr>
          <p:cNvSpPr txBox="1"/>
          <p:nvPr/>
        </p:nvSpPr>
        <p:spPr>
          <a:xfrm>
            <a:off x="1548580" y="922104"/>
            <a:ext cx="909483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1. Brief description of the problem being solved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endParaRPr lang="ar-E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Traditional remote sensing methods rely on manual feature extraction, which is time-consuming and limited in handling the high dimensionality of multispectral data, hindering effective urban planning and resource management.</a:t>
            </a:r>
            <a:endParaRPr lang="ar-EG" sz="1600" dirty="0"/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E7F8F5-36CD-E289-6DA3-3AE50DFF9C02}"/>
              </a:ext>
            </a:extLst>
          </p:cNvPr>
          <p:cNvSpPr txBox="1"/>
          <p:nvPr/>
        </p:nvSpPr>
        <p:spPr>
          <a:xfrm>
            <a:off x="1469449" y="2755811"/>
            <a:ext cx="909483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2. Overview of the proposed solution (high-level idea):</a:t>
            </a:r>
          </a:p>
          <a:p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 automated, high-accuracy land classification system leveraging Deep Neural Networks (specifically </a:t>
            </a:r>
            <a:r>
              <a:rPr lang="en-US" sz="1600" b="1" dirty="0"/>
              <a:t>EfficientNet-B0</a:t>
            </a:r>
            <a:r>
              <a:rPr lang="en-US" sz="1600" dirty="0"/>
              <a:t>) to analyze Sentinel-2 satellite imagery and categorize land cover into 10 distinct classes (e.g., Agricultural Land, Urban Areas, Water Bodies)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1C86C3-2FDB-A8AE-4C0C-59B706F0191A}"/>
              </a:ext>
            </a:extLst>
          </p:cNvPr>
          <p:cNvSpPr txBox="1"/>
          <p:nvPr/>
        </p:nvSpPr>
        <p:spPr>
          <a:xfrm>
            <a:off x="1548580" y="4404852"/>
            <a:ext cx="88932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3. Unique value proposition (Explain what makes your project stand out):</a:t>
            </a:r>
          </a:p>
          <a:p>
            <a:endParaRPr 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solution achieved an outstanding test accuracy of </a:t>
            </a:r>
            <a:r>
              <a:rPr lang="en-US" sz="1600" b="1" dirty="0"/>
              <a:t>97.12%</a:t>
            </a:r>
            <a:r>
              <a:rPr lang="en-US" sz="1600" dirty="0"/>
              <a:t> by utilizing EfficientNet-B0, which offers superior efficiency and a low computational footprint compared to traditional baselines, enabling scalable real-world deployment</a:t>
            </a:r>
          </a:p>
        </p:txBody>
      </p:sp>
    </p:spTree>
    <p:extLst>
      <p:ext uri="{BB962C8B-B14F-4D97-AF65-F5344CB8AC3E}">
        <p14:creationId xmlns:p14="http://schemas.microsoft.com/office/powerpoint/2010/main" val="3568802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1E2858E-F234-5717-BACB-A54BA6F3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BA239D87-096B-CA7B-2AF6-CC65A291C3BA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10/14/24</a:t>
            </a:r>
            <a:endParaRPr dirty="0"/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ABD80326-EEDF-4FC1-41ED-2013023217F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1F94DFBC-32B8-542C-C27F-5B312A382F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 dirty="0"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C8D0A63-10CD-507A-FB9E-CC3116CC1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E40EA8-53B7-BCFC-E55E-A5F5D0630D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9" y="1384031"/>
            <a:ext cx="6281301" cy="40899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921AFE-BD68-768D-BBB5-A4752B9CDB65}"/>
              </a:ext>
            </a:extLst>
          </p:cNvPr>
          <p:cNvSpPr txBox="1"/>
          <p:nvPr/>
        </p:nvSpPr>
        <p:spPr>
          <a:xfrm>
            <a:off x="7000567" y="1503650"/>
            <a:ext cx="528975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Overview of User Journey:</a:t>
            </a:r>
          </a:p>
          <a:p>
            <a:endParaRPr lang="en-US" dirty="0"/>
          </a:p>
          <a:p>
            <a:r>
              <a:rPr lang="en-US" sz="1600" b="1" dirty="0"/>
              <a:t>1- Input:</a:t>
            </a:r>
            <a:r>
              <a:rPr lang="en-US" sz="1600" dirty="0"/>
              <a:t> Users upload satellite imagery via drag-and-drop or select from pre-loaded examples.</a:t>
            </a:r>
            <a:endParaRPr lang="ar-EG" sz="1600" dirty="0"/>
          </a:p>
          <a:p>
            <a:r>
              <a:rPr lang="en-US" sz="1600" b="1" dirty="0"/>
              <a:t>2- Action:</a:t>
            </a:r>
            <a:r>
              <a:rPr lang="en-US" sz="1600" dirty="0"/>
              <a:t> Clicking the </a:t>
            </a:r>
            <a:r>
              <a:rPr lang="en-US" sz="1600" b="1" dirty="0"/>
              <a:t>"⚡ Analyze Terrain"</a:t>
            </a:r>
            <a:r>
              <a:rPr lang="en-US" sz="1600" dirty="0"/>
              <a:t> button triggers the </a:t>
            </a:r>
            <a:r>
              <a:rPr lang="en-US" sz="1600" dirty="0" err="1"/>
              <a:t>PyTorch</a:t>
            </a:r>
            <a:r>
              <a:rPr lang="en-US" sz="1600" dirty="0"/>
              <a:t> backend for immediate inference.</a:t>
            </a:r>
            <a:endParaRPr lang="ar-EG" sz="1600" dirty="0"/>
          </a:p>
          <a:p>
            <a:r>
              <a:rPr lang="en-US" sz="1600" b="1" dirty="0"/>
              <a:t>3- Result:</a:t>
            </a:r>
            <a:r>
              <a:rPr lang="en-US" sz="1600" dirty="0"/>
              <a:t> The model displays the predicted land type along with confidence scores for the</a:t>
            </a:r>
            <a:r>
              <a:rPr lang="ar-EG" sz="1600" dirty="0"/>
              <a:t> </a:t>
            </a:r>
            <a:r>
              <a:rPr lang="en-US" sz="1600" dirty="0"/>
              <a:t>top classes in a clear, graphical format.</a:t>
            </a:r>
          </a:p>
          <a:p>
            <a:endParaRPr lang="en-US" dirty="0"/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Focus on Usability:</a:t>
            </a:r>
          </a:p>
          <a:p>
            <a:endParaRPr lang="en-US" sz="1600" b="1" dirty="0"/>
          </a:p>
          <a:p>
            <a:r>
              <a:rPr lang="en-US" sz="1600" dirty="0"/>
              <a:t>The interface prioritizes accessibility with a clean, intuitive design, visual feedback cues, and no-code interaction, making advanced AI analysis accessible to urban planners and researchers.</a:t>
            </a:r>
          </a:p>
        </p:txBody>
      </p:sp>
    </p:spTree>
    <p:extLst>
      <p:ext uri="{BB962C8B-B14F-4D97-AF65-F5344CB8AC3E}">
        <p14:creationId xmlns:p14="http://schemas.microsoft.com/office/powerpoint/2010/main" val="1946693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6FF3254C-42E7-ACCE-7737-85DB65F2D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69C4AE5F-2B92-01A1-7B0D-8BA8550E393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10/14/24</a:t>
            </a:r>
            <a:endParaRPr dirty="0"/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C2FB864E-69BE-E16F-CBAE-1229A707A19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257C08A7-E126-78D0-9915-6490E01A05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 dirty="0"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92C9191-16B4-3405-DB5A-3F8CB6F367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8BA3029-480C-25A6-6D7E-0DA7FBA802E9}"/>
              </a:ext>
            </a:extLst>
          </p:cNvPr>
          <p:cNvSpPr txBox="1"/>
          <p:nvPr/>
        </p:nvSpPr>
        <p:spPr>
          <a:xfrm>
            <a:off x="1140542" y="1504336"/>
            <a:ext cx="1043202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Primary User Personas: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Urban Planners &amp; Development Agencies. 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Agricultural Authorities (Ministry of Agriculture).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Environmental Researchers &amp; Disaster Response Teams.</a:t>
            </a:r>
            <a:endParaRPr lang="ar-EG" sz="1600" dirty="0"/>
          </a:p>
          <a:p>
            <a:endParaRPr lang="ar-EG" sz="1600" dirty="0"/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Key Features: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Multi-Class Classification:</a:t>
            </a:r>
            <a:r>
              <a:rPr lang="en-US" sz="1600" dirty="0"/>
              <a:t> Accurately identifies 10 distinct land cover types (e.g., Forests, Crops, Urban areas, Water bodies)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Real-Time Analysis:</a:t>
            </a:r>
            <a:r>
              <a:rPr lang="en-US" sz="1600" dirty="0"/>
              <a:t> An interactive web interface that processes satellite imagery and delivers instant predictions.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Precision Metrics:</a:t>
            </a:r>
            <a:r>
              <a:rPr lang="en-US" sz="1600" dirty="0"/>
              <a:t> Displays confidence scores for each prediction to support reliable decision-making.</a:t>
            </a:r>
          </a:p>
          <a:p>
            <a:endParaRPr lang="ar-EG" sz="1600" dirty="0"/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Solving User Problems: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Eliminates the time and cost associated with traditional manual surveying and feature</a:t>
            </a:r>
            <a:r>
              <a:rPr lang="ar-EG" sz="1600" dirty="0"/>
              <a:t> </a:t>
            </a:r>
            <a:r>
              <a:rPr lang="en-US" sz="1600" dirty="0"/>
              <a:t>extraction.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Empowers officials with actionable intelligence for monitoring crop health, tracking deforestation, and planning infrastructure effectively.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83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13A06EC-984D-9A00-BEEC-F446FC663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2611AE1C-2452-16F9-9014-84C115F61B70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10/14/24</a:t>
            </a:r>
            <a:endParaRPr dirty="0"/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FEC6806E-941C-E93D-C204-207BA948DA2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F849B894-2E23-FAAE-FA03-3341AFBCDE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 dirty="0"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DD30EC3-B786-19B2-B29E-FEAE7AAA5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2ABFDE-A101-55DA-A6E1-F7941ACF9A2D}"/>
              </a:ext>
            </a:extLst>
          </p:cNvPr>
          <p:cNvSpPr txBox="1"/>
          <p:nvPr/>
        </p:nvSpPr>
        <p:spPr>
          <a:xfrm>
            <a:off x="1262499" y="1413063"/>
            <a:ext cx="1007806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Database Architecture (CSV):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dataset is organized using a </a:t>
            </a:r>
            <a:r>
              <a:rPr lang="en-US" sz="1600" b="1" dirty="0"/>
              <a:t>CSV file</a:t>
            </a:r>
            <a:r>
              <a:rPr lang="en-US" sz="1600" dirty="0"/>
              <a:t> that acts as a relational index, mapping each</a:t>
            </a:r>
            <a:r>
              <a:rPr lang="ar-EG" sz="1600" dirty="0"/>
              <a:t> </a:t>
            </a:r>
            <a:r>
              <a:rPr lang="en-US" sz="1600" dirty="0"/>
              <a:t> </a:t>
            </a:r>
            <a:r>
              <a:rPr lang="en-US" sz="1600" b="1" dirty="0"/>
              <a:t>Image Path</a:t>
            </a:r>
            <a:r>
              <a:rPr lang="en-US" sz="1600" dirty="0"/>
              <a:t> to its corresponding </a:t>
            </a:r>
            <a:r>
              <a:rPr lang="en-US" sz="1600" b="1" dirty="0"/>
              <a:t>Class Label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/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Data Shape &amp; Balance: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Shape:</a:t>
            </a:r>
            <a:r>
              <a:rPr lang="en-US" sz="1600" dirty="0"/>
              <a:t> The dataset encompasses </a:t>
            </a:r>
            <a:r>
              <a:rPr lang="en-US" sz="1600" b="1" dirty="0"/>
              <a:t>10 land cover classes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Balance:</a:t>
            </a:r>
            <a:r>
              <a:rPr lang="en-US" sz="1600" dirty="0"/>
              <a:t> The data is </a:t>
            </a:r>
            <a:r>
              <a:rPr lang="en-US" sz="1600" b="1" dirty="0"/>
              <a:t>perfectly balanced</a:t>
            </a:r>
            <a:r>
              <a:rPr lang="en-US" sz="1600" dirty="0"/>
              <a:t> (approx. 2,000 images per class), ensuring no class bias during the training phase.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Data Flow &amp; Techniques: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Techniques:</a:t>
            </a:r>
            <a:r>
              <a:rPr lang="en-US" sz="1600" dirty="0"/>
              <a:t> The pipeline reads paths from the CSV, applies </a:t>
            </a:r>
            <a:r>
              <a:rPr lang="en-US" sz="1600" b="1" dirty="0"/>
              <a:t>Preprocessing</a:t>
            </a:r>
            <a:r>
              <a:rPr lang="en-US" sz="1600" dirty="0"/>
              <a:t> (Resizing to 224x224) and </a:t>
            </a:r>
            <a:r>
              <a:rPr lang="en-US" sz="1600" b="1" dirty="0"/>
              <a:t>Data Augmentation</a:t>
            </a:r>
            <a:r>
              <a:rPr lang="en-US" sz="1600" dirty="0"/>
              <a:t> (e.g., flips/rotations) before model input.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Evolution:</a:t>
            </a:r>
            <a:r>
              <a:rPr lang="en-US" sz="1600" dirty="0"/>
              <a:t> The CSV initially facilitated feature extraction for traditional ML baselines (e.g., Random Forest), before shifting to raw image processing with </a:t>
            </a:r>
            <a:r>
              <a:rPr lang="en-US" sz="1600" b="1" dirty="0"/>
              <a:t>EfficientNet-B0</a:t>
            </a:r>
            <a:r>
              <a:rPr lang="en-US" sz="1600" dirty="0"/>
              <a:t> for superior deep learning results.</a:t>
            </a:r>
          </a:p>
        </p:txBody>
      </p:sp>
    </p:spTree>
    <p:extLst>
      <p:ext uri="{BB962C8B-B14F-4D97-AF65-F5344CB8AC3E}">
        <p14:creationId xmlns:p14="http://schemas.microsoft.com/office/powerpoint/2010/main" val="2570919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7CF56FE3-23B7-9281-910F-028111052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DB240D33-77FF-C3F3-1396-3E087A941E11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10/14/24</a:t>
            </a:r>
            <a:endParaRPr dirty="0"/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AFFE1031-1705-9073-6B23-33D13150C87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79776D31-E2BB-85B7-793D-474CD5BABF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 dirty="0"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5B3F5691-F590-7777-E063-FC6C02D7E1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A53B25-E545-6742-4874-9AEE1D25FE37}"/>
              </a:ext>
            </a:extLst>
          </p:cNvPr>
          <p:cNvSpPr txBox="1"/>
          <p:nvPr/>
        </p:nvSpPr>
        <p:spPr>
          <a:xfrm>
            <a:off x="1167580" y="1417738"/>
            <a:ext cx="1018622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Main Programming Languages:</a:t>
            </a:r>
            <a:endParaRPr lang="ar-EG" sz="18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Python:</a:t>
            </a:r>
            <a:r>
              <a:rPr lang="en-US" sz="1800" dirty="0"/>
              <a:t> The core language for the entire data pipeline and AI model development.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Frameworks &amp;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PyTorch</a:t>
            </a:r>
            <a:r>
              <a:rPr lang="en-US" sz="1800" b="1" dirty="0"/>
              <a:t>:</a:t>
            </a:r>
            <a:r>
              <a:rPr lang="en-US" sz="1800" dirty="0"/>
              <a:t> The primary deep learning framework used to construct and train the </a:t>
            </a:r>
            <a:r>
              <a:rPr lang="en-US" sz="1800" b="1" dirty="0"/>
              <a:t>EfficientNet-B0</a:t>
            </a:r>
            <a:r>
              <a:rPr lang="en-US" sz="1800" dirty="0"/>
              <a:t> architecture.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Gradio</a:t>
            </a:r>
            <a:r>
              <a:rPr lang="en-US" sz="1800" b="1" dirty="0"/>
              <a:t>:</a:t>
            </a:r>
            <a:r>
              <a:rPr lang="en-US" sz="1800" dirty="0"/>
              <a:t> Utilized to build the modern, interactive web interface for real-time model inference.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Supporting Technologies: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Hugging Face Spaces:</a:t>
            </a:r>
            <a:r>
              <a:rPr lang="en-US" sz="1800" dirty="0"/>
              <a:t> Used for cloud hosting and scalable deployment of the application.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Data Libraries:</a:t>
            </a:r>
            <a:r>
              <a:rPr lang="en-US" sz="1800" dirty="0"/>
              <a:t> </a:t>
            </a:r>
            <a:r>
              <a:rPr lang="en-US" sz="1800" b="1" dirty="0"/>
              <a:t>NumPy</a:t>
            </a:r>
            <a:r>
              <a:rPr lang="en-US" sz="1800" dirty="0"/>
              <a:t> &amp; </a:t>
            </a:r>
            <a:r>
              <a:rPr lang="en-US" sz="1800" b="1" dirty="0"/>
              <a:t>Pandas</a:t>
            </a:r>
            <a:r>
              <a:rPr lang="en-US" sz="1800" dirty="0"/>
              <a:t> for data manipulation, along with </a:t>
            </a:r>
            <a:r>
              <a:rPr lang="en-US" sz="1800" b="1" dirty="0"/>
              <a:t>OpenCV/PIL</a:t>
            </a:r>
            <a:r>
              <a:rPr lang="en-US" sz="1800" dirty="0"/>
              <a:t> for advanced image preprocessing.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34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CBBE24E8-CB82-D911-A192-6B0852F7F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EBFB8C08-C7B8-5C32-86C9-D7FFF335AEF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10/14/24</a:t>
            </a:r>
            <a:endParaRPr dirty="0"/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E8E1AA3C-884D-FFF8-4EBD-0E82C7D2888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013B8DB8-DEF3-1501-56F2-9A3F24C1A0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1D5A6BD8-05B4-DF60-57FC-E77494FC5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509842-B0DE-772F-1B4A-A72D98474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187" y="3572891"/>
            <a:ext cx="3263087" cy="250729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AF9ECD-332F-8EB5-59F5-754236499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94" y="1137555"/>
            <a:ext cx="4571767" cy="229725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1C1E59D-C77D-4FED-F46E-41FA1B0A57E5}"/>
              </a:ext>
            </a:extLst>
          </p:cNvPr>
          <p:cNvSpPr txBox="1"/>
          <p:nvPr/>
        </p:nvSpPr>
        <p:spPr>
          <a:xfrm>
            <a:off x="5314355" y="1515242"/>
            <a:ext cx="687764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Live Application State: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 functional Beta prototype is deployed on </a:t>
            </a:r>
            <a:r>
              <a:rPr lang="en-US" sz="1600" b="1" dirty="0"/>
              <a:t>Hugging Face Spaces</a:t>
            </a:r>
            <a:r>
              <a:rPr lang="en-US" sz="1600" dirty="0"/>
              <a:t> using </a:t>
            </a:r>
            <a:r>
              <a:rPr lang="en-US" sz="1600" b="1" dirty="0" err="1"/>
              <a:t>Gradio</a:t>
            </a:r>
            <a:r>
              <a:rPr lang="en-US" sz="1600" dirty="0"/>
              <a:t> (shown bottom-left), enabling real-time inference where users can upload imagery and receive instant classification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Testing &amp; Benchmarking: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conducted rigorous comparative testing (top-left charts) between different architectures like </a:t>
            </a:r>
            <a:r>
              <a:rPr lang="en-US" sz="1600" b="1" dirty="0"/>
              <a:t>ResNet-50</a:t>
            </a:r>
            <a:r>
              <a:rPr lang="en-US" sz="1600" dirty="0"/>
              <a:t> and our final </a:t>
            </a:r>
            <a:r>
              <a:rPr lang="en-US" sz="1600" b="1" dirty="0"/>
              <a:t>EfficientNet-B0</a:t>
            </a:r>
            <a:endParaRPr lang="ar-EG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training curves demonstrate that EfficientNet-B0 achieved faster convergence and superior stability compared to other models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Final Results: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system achieved an outstanding </a:t>
            </a:r>
            <a:r>
              <a:rPr lang="en-US" sz="1600" b="1" dirty="0"/>
              <a:t>97.12% Test Accuracy</a:t>
            </a:r>
            <a:r>
              <a:rPr lang="en-US" sz="1600" dirty="0"/>
              <a:t>, validating the model's robustness and its ability to generalize well on unseen satellite data</a:t>
            </a:r>
          </a:p>
        </p:txBody>
      </p:sp>
    </p:spTree>
    <p:extLst>
      <p:ext uri="{BB962C8B-B14F-4D97-AF65-F5344CB8AC3E}">
        <p14:creationId xmlns:p14="http://schemas.microsoft.com/office/powerpoint/2010/main" val="3070727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D69B233-5879-1517-609F-DC1755F91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7FF69616-42DC-F9A1-DB6E-40FF5D8E2D0E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10/14/24</a:t>
            </a:r>
            <a:endParaRPr dirty="0"/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E637A186-130C-E2BA-DF00-3472BAD984A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6011D356-558B-44F7-F6E9-10AB645570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B3239249-FFD2-A8DE-6C88-74CCCE0B4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179C5D-8EBA-20C9-FCCF-D154357E7ACE}"/>
              </a:ext>
            </a:extLst>
          </p:cNvPr>
          <p:cNvSpPr txBox="1"/>
          <p:nvPr/>
        </p:nvSpPr>
        <p:spPr>
          <a:xfrm>
            <a:off x="1252329" y="1411356"/>
            <a:ext cx="10353261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List of Reports: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Technical Report:</a:t>
            </a:r>
            <a:r>
              <a:rPr lang="en-US" sz="1600" dirty="0"/>
              <a:t> A comprehensive document detailing the preprocessing pipeline, EfficientNet-B0 architecture, and hyperparameter tuning results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Project Documentation:</a:t>
            </a:r>
            <a:r>
              <a:rPr lang="en-US" sz="1600" dirty="0"/>
              <a:t> Covers the implementation strategy and user guidelines for the deployed interface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Timeline (Milestones):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Successfully executed the rigorous </a:t>
            </a:r>
            <a:r>
              <a:rPr lang="en-US" sz="1600" b="1" dirty="0"/>
              <a:t>5-Milestone Structure</a:t>
            </a:r>
            <a:r>
              <a:rPr lang="en-US" sz="1600" dirty="0"/>
              <a:t>: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M1 &amp; M2:</a:t>
            </a:r>
            <a:r>
              <a:rPr lang="en-US" sz="1600" dirty="0"/>
              <a:t> Data Collection, Preprocessing, and Advanced Analysis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M3:</a:t>
            </a:r>
            <a:r>
              <a:rPr lang="en-US" sz="1600" dirty="0"/>
              <a:t> Model Development and Training Optimization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M4 &amp; M5:</a:t>
            </a:r>
            <a:r>
              <a:rPr lang="en-US" sz="1600" dirty="0"/>
              <a:t> Deployment (</a:t>
            </a:r>
            <a:r>
              <a:rPr lang="en-US" sz="1600" dirty="0" err="1"/>
              <a:t>MLOps</a:t>
            </a:r>
            <a:r>
              <a:rPr lang="en-US" sz="1600" dirty="0"/>
              <a:t>) and Final Evaluation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ar-EG" sz="1600" dirty="0"/>
          </a:p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Other Final Products:</a:t>
            </a:r>
            <a:endParaRPr lang="ar-EG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Functional Web Application:</a:t>
            </a:r>
            <a:r>
              <a:rPr lang="en-US" sz="1600" dirty="0"/>
              <a:t> A live, interactive interface deployed for real-time land classification</a:t>
            </a:r>
            <a:endParaRPr lang="ar-EG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Source Code Repository:</a:t>
            </a:r>
            <a:r>
              <a:rPr lang="en-US" sz="1600" dirty="0"/>
              <a:t> Complete codebase for data pipeline and model inference</a:t>
            </a:r>
            <a:endParaRPr lang="ar-EG" sz="1600" dirty="0"/>
          </a:p>
          <a:p>
            <a:r>
              <a:rPr lang="en-US" sz="1600" b="1" dirty="0"/>
              <a:t>Trained Model Weights:</a:t>
            </a:r>
            <a:r>
              <a:rPr lang="en-US" sz="1600" dirty="0"/>
              <a:t> The final optimized EfficientNet-B0 model file ready for production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331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1E1163FD-D420-B332-0792-DFF332D0E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59D9F7C7-06A4-D686-AE62-8637CD0A0BEB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10/14/24</a:t>
            </a:r>
            <a:endParaRPr dirty="0"/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A4716E3D-B66B-41B8-9AE8-E7DC433F23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E4787FDF-E722-5E5A-BDA7-BF139E8638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3F5BC758-1C4B-6745-4B3B-FD23D191F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7149E0-8EB6-A8EC-8562-188B6447F133}"/>
              </a:ext>
            </a:extLst>
          </p:cNvPr>
          <p:cNvSpPr txBox="1"/>
          <p:nvPr/>
        </p:nvSpPr>
        <p:spPr>
          <a:xfrm>
            <a:off x="1699592" y="1371600"/>
            <a:ext cx="91042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Core Team &amp; Responsibilities:</a:t>
            </a:r>
            <a:endParaRPr lang="ar-EG" sz="1800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ar-EG" sz="18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600" b="1" dirty="0"/>
              <a:t>Tadrous Adel (Leader):</a:t>
            </a:r>
            <a:r>
              <a:rPr lang="en-US" sz="1600" dirty="0"/>
              <a:t> Project management and lead for Deployment/</a:t>
            </a:r>
            <a:r>
              <a:rPr lang="en-US" sz="1600" dirty="0" err="1"/>
              <a:t>MLOps</a:t>
            </a:r>
            <a:r>
              <a:rPr lang="en-US" sz="1600" dirty="0"/>
              <a:t> (Integration &amp; Interface)</a:t>
            </a:r>
            <a:endParaRPr lang="ar-EG" sz="1600" dirty="0"/>
          </a:p>
          <a:p>
            <a:r>
              <a:rPr lang="en-US" sz="1600" b="1" dirty="0"/>
              <a:t>Maria Ashraf:</a:t>
            </a:r>
            <a:r>
              <a:rPr lang="en-US" sz="1600" dirty="0"/>
              <a:t> Development of Data Preprocessing pipelines and Data Augmentation strategies</a:t>
            </a:r>
            <a:endParaRPr lang="ar-EG" sz="1600" dirty="0"/>
          </a:p>
          <a:p>
            <a:r>
              <a:rPr lang="en-US" sz="1600" b="1" dirty="0"/>
              <a:t>Abd-</a:t>
            </a:r>
            <a:r>
              <a:rPr lang="en-US" sz="1600" b="1" dirty="0" err="1"/>
              <a:t>elaziz</a:t>
            </a:r>
            <a:r>
              <a:rPr lang="en-US" sz="1600" b="1" dirty="0"/>
              <a:t> Hassan:</a:t>
            </a:r>
            <a:r>
              <a:rPr lang="en-US" sz="1600" dirty="0"/>
              <a:t> Baseline Model development and rigorous Model Evaluation (F1, Precision, Recall)</a:t>
            </a:r>
            <a:endParaRPr lang="ar-EG" sz="1600" dirty="0"/>
          </a:p>
          <a:p>
            <a:r>
              <a:rPr lang="en-US" sz="1600" b="1" dirty="0"/>
              <a:t>Karen Medhat:</a:t>
            </a:r>
            <a:r>
              <a:rPr lang="en-US" sz="1600" dirty="0"/>
              <a:t> Primary Data Exploration (EDA) and Spectral Band Analysis for feature selection</a:t>
            </a:r>
            <a:endParaRPr lang="ar-EG" sz="1600" dirty="0"/>
          </a:p>
          <a:p>
            <a:r>
              <a:rPr lang="en-US" sz="1600" b="1" dirty="0"/>
              <a:t>Mohamed Essam:</a:t>
            </a:r>
            <a:r>
              <a:rPr lang="en-US" sz="1600" dirty="0"/>
              <a:t> Implementation of </a:t>
            </a:r>
            <a:r>
              <a:rPr lang="en-US" sz="1600" b="1" dirty="0"/>
              <a:t>EfficientNet-B0</a:t>
            </a:r>
            <a:r>
              <a:rPr lang="en-US" sz="1600" dirty="0"/>
              <a:t>, Hyperparameter Tuning, and training optimization</a:t>
            </a:r>
            <a:endParaRPr lang="ar-EG" sz="1600" dirty="0"/>
          </a:p>
          <a:p>
            <a:r>
              <a:rPr lang="en-US" sz="1600" b="1" dirty="0"/>
              <a:t>Mohamed Kamal:</a:t>
            </a:r>
            <a:r>
              <a:rPr lang="en-US" sz="1600" dirty="0"/>
              <a:t> Final Project Documentation, reporting, and defining real-world applications</a:t>
            </a:r>
            <a:endParaRPr lang="ar-EG" sz="1600" dirty="0"/>
          </a:p>
          <a:p>
            <a:endParaRPr lang="ar-EG" sz="1800" dirty="0"/>
          </a:p>
          <a:p>
            <a:r>
              <a:rPr lang="en-US" sz="1800" b="1" dirty="0">
                <a:solidFill>
                  <a:schemeClr val="accent1">
                    <a:lumMod val="75000"/>
                  </a:schemeClr>
                </a:solidFill>
              </a:rPr>
              <a:t>Collaboration Methods:</a:t>
            </a:r>
            <a:endParaRPr lang="ar-EG" sz="18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1600" dirty="0"/>
              <a:t>Success was achieved through a clear division of labor, ensuring dedicated expertise for each project milestone</a:t>
            </a:r>
          </a:p>
        </p:txBody>
      </p:sp>
    </p:spTree>
    <p:extLst>
      <p:ext uri="{BB962C8B-B14F-4D97-AF65-F5344CB8AC3E}">
        <p14:creationId xmlns:p14="http://schemas.microsoft.com/office/powerpoint/2010/main" val="3509944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ED7D879E-6C14-5208-937E-6724BACC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B85F54BE-DDE8-67F6-F640-3676DD7BC83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10/14/24</a:t>
            </a:r>
            <a:endParaRPr dirty="0"/>
          </a:p>
        </p:txBody>
      </p:sp>
      <p:sp>
        <p:nvSpPr>
          <p:cNvPr id="106" name="Google Shape;106;p1">
            <a:extLst>
              <a:ext uri="{FF2B5EF4-FFF2-40B4-BE49-F238E27FC236}">
                <a16:creationId xmlns:a16="http://schemas.microsoft.com/office/drawing/2014/main" id="{49BFFB81-9B96-BB28-F54D-2A6322B8F0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">
            <a:extLst>
              <a:ext uri="{FF2B5EF4-FFF2-40B4-BE49-F238E27FC236}">
                <a16:creationId xmlns:a16="http://schemas.microsoft.com/office/drawing/2014/main" id="{49BBB2B1-3277-8533-81D5-A0E23B61EC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6DE745C-BEB6-9ADB-4BA6-463D48D5B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710" y="6410340"/>
            <a:ext cx="989670" cy="2571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117854-D3DA-8BE5-C3CC-1423D3BF00BF}"/>
              </a:ext>
            </a:extLst>
          </p:cNvPr>
          <p:cNvSpPr txBox="1"/>
          <p:nvPr/>
        </p:nvSpPr>
        <p:spPr>
          <a:xfrm>
            <a:off x="1311965" y="2505670"/>
            <a:ext cx="87795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latin typeface="Aptos Black" panose="020F0502020204030204" pitchFamily="34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EF35D7-E3A1-8DAD-53A6-A8985874521E}"/>
              </a:ext>
            </a:extLst>
          </p:cNvPr>
          <p:cNvSpPr txBox="1"/>
          <p:nvPr/>
        </p:nvSpPr>
        <p:spPr>
          <a:xfrm>
            <a:off x="315401" y="4851384"/>
            <a:ext cx="51981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Email:</a:t>
            </a:r>
            <a:r>
              <a:rPr lang="en-US" sz="1600" dirty="0"/>
              <a:t> </a:t>
            </a:r>
            <a:r>
              <a:rPr lang="en-US" sz="1600" dirty="0">
                <a:hlinkClick r:id="rId4"/>
              </a:rPr>
              <a:t>tadoadel2005@gmail.com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/>
              <a:t>We are now open to any questions or feedback you may have</a:t>
            </a:r>
          </a:p>
        </p:txBody>
      </p:sp>
    </p:spTree>
    <p:extLst>
      <p:ext uri="{BB962C8B-B14F-4D97-AF65-F5344CB8AC3E}">
        <p14:creationId xmlns:p14="http://schemas.microsoft.com/office/powerpoint/2010/main" val="1314710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991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 Black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SAMA</dc:creator>
  <cp:lastModifiedBy>Tadrous Adel</cp:lastModifiedBy>
  <cp:revision>5</cp:revision>
  <dcterms:created xsi:type="dcterms:W3CDTF">2024-03-14T10:03:54Z</dcterms:created>
  <dcterms:modified xsi:type="dcterms:W3CDTF">2025-11-30T14:24:46Z</dcterms:modified>
</cp:coreProperties>
</file>