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415541-BD27-404E-9ADE-DE552EECBA65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1EC65F-EA71-4D70-AACF-19A0FA78E5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17297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058030-DDCC-A32A-53EF-95BF28EA64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7EFA00-3F5F-7385-229B-87C5C1E9A1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061B3C-8A22-F210-4030-278E1FFCAA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00F1F-077B-410E-BD98-30987CAF9FDE}" type="datetime1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A621E4-1E39-8198-5EC1-D59A297620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04FFDD-0F4B-A8D0-5595-197938EFB4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2B362-07F9-44A9-AAF2-4676A3FE8B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62235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00FE5-A332-7D1A-6D5D-A0CB9AEEF3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058BE9-16F3-E007-5423-B0A0239944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834251-76A7-9B1E-67CF-0891FE76F7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777D7F-B655-439B-83B8-91857C351A29}" type="datetime1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E3EAF7-50D7-9951-2535-5325407FD7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FCFE2D-3E2E-5B9B-D9D1-1266EAF640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2B362-07F9-44A9-AAF2-4676A3FE8B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34499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A8842F-F5DC-D65D-2217-6602732202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3623AC-6C0D-924D-0D1F-0348C98EBC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3F9693-532F-E0B6-BA9D-186903B0F0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C11D3-AD17-4193-9401-6A8E6403514C}" type="datetime1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354606-9F34-7AB3-37E5-B8845C2598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8E65A8-6EA9-4D9F-EB70-0799744F9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2B362-07F9-44A9-AAF2-4676A3FE8B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32810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1FAFD2-8F60-C5A9-C34D-52D5C1D1A0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EA8A22-E24A-B515-D47F-206C0F0679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94757F-3144-8838-83C9-8814032B55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4E22D6-8B19-9259-6E14-39995A4C50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9B9BB-97A5-47C8-95DF-1CF47994C372}" type="datetime1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393AC1-7189-41F2-61A2-465DC3EE73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00FCA0-3A55-BC98-4C5E-5CE6D3288D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2B362-07F9-44A9-AAF2-4676A3FE8B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97261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A7ED7E-2D20-EB68-D093-0E12B2D9F1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5C7911-9BB6-2754-91F6-0CBFD8A07A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7715BA-7C72-8829-2362-8518B0F4F0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79E0C91-C2EC-16D0-171B-ABA54A5963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C8E9233-9378-0C2E-2FEE-C562AB7EF0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1625446-581C-EBC9-3DFE-7F87A420F5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84354-FEC1-45E8-8EE4-DF22AFA43ECD}" type="datetime1">
              <a:rPr lang="en-US" smtClean="0"/>
              <a:t>12/10/2025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3A03C18-BC36-9B6A-1E12-D7B406F37D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0C18059-C0F3-A1D6-D64F-4B2B989DA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2B362-07F9-44A9-AAF2-4676A3FE8B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93449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D05C68-C6FC-4A8B-0282-8F0DC8B485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07CA86-EF71-507F-179D-24782B3FDF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E3A80-C8A1-4057-A484-5F340136216C}" type="datetime1">
              <a:rPr lang="en-US" smtClean="0"/>
              <a:t>12/10/2025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FC0ACA-A372-7DBF-110F-196B832C2A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45952E-EFFD-FAB9-1EE9-27CBDB7BF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2B362-07F9-44A9-AAF2-4676A3FE8B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30412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11EB6CD-E5BB-DAA5-F772-9F072C5D4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6DD5C-C922-42AC-A95D-E07FF2B246C2}" type="datetime1">
              <a:rPr lang="en-US" smtClean="0"/>
              <a:t>12/10/2025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E12A66E-D105-6DD9-9485-29C1C69518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AC1490-174F-224C-DA5D-FDB4D56396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2B362-07F9-44A9-AAF2-4676A3FE8B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34985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75E268-834C-52EF-F44C-2319884457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832C46-A352-B01E-9BF7-FEAE7740D9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64C82B-6660-DC45-2D55-2CC8BEDECE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1FA81C-EF41-D442-7F60-4E11F1ADB7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997E8-A90B-4612-9980-CE286AAC8DA8}" type="datetime1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6EBF61-495E-7649-9608-84170EA5AD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12FCD4-23CC-C17A-3B52-7DA490F81E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2B362-07F9-44A9-AAF2-4676A3FE8B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0166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5BE31A-B3A8-3330-2B7D-650A5CBAE4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F3D4B98-8325-26FF-7AD5-088590F45D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5AE7B8-543E-2EF5-FC91-E4423D7B3C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46DC2F-0127-B913-A676-9348E3A6C9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F9F44-9512-4F11-8D9C-EC0B2AA70DD9}" type="datetime1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529356-317C-43A0-910A-A951494B4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557BB4-B0D7-6FB4-B5FC-D64F05A33C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2B362-07F9-44A9-AAF2-4676A3FE8B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8372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E9BE4D-8336-FB3D-F5E6-0D29AC7AF7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AA359C-B67F-4175-13D4-66D87F13FB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E0BA91-8E2C-4598-B34E-2F2F0C9779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9EE40-3908-426B-8D7C-497C3AC40715}" type="datetime1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5599BB-6DC0-E2EC-7B65-7FBE4C4F09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4CF3C9-C73C-2557-CD5C-23097402C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2B362-07F9-44A9-AAF2-4676A3FE8B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63656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756B0BF-B28B-47D2-DB30-57F4398CA7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286FB1-4063-CE73-B5CB-C3BE873281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81D4FF-92A5-BF50-FEF8-02A10576FD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8FF27A-1815-48D1-BD9D-4578C51F3313}" type="datetime1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FE32C5-AD6E-7D69-0F5C-F4EB63449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5F6950-F3F6-5411-88AE-505ABC4670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2B362-07F9-44A9-AAF2-4676A3FE8B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13757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EAC12D7-47FB-A69C-C45F-AEBC5F866E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9DBF80-77A9-EF83-AA58-21E4C308BF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E76BE1-09F5-CBFC-7913-E30746C354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CF0153-27D2-44AA-949E-5A8DCE804B75}" type="datetime1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9A5DEE-2F9F-B4FC-9644-58631E7466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7840F6-BA93-F00E-9A8F-179C9BB0F3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5E2B362-07F9-44A9-AAF2-4676A3FE8B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96544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jp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8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jpg"/><Relationship Id="rId4" Type="http://schemas.openxmlformats.org/officeDocument/2006/relationships/image" Target="../media/image3.png"/><Relationship Id="rId9" Type="http://schemas.openxmlformats.org/officeDocument/2006/relationships/hyperlink" Target="https://github.com/Tadrous701/DEPI-final-Project-Graduation/releases/tag/v1.0.0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jp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hyperlink" Target="mailto:tadoadel2005@gmail.com" TargetMode="Externa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B32BD49-DC57-706D-B7D1-69F6B8A94D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438" y="277829"/>
            <a:ext cx="942978" cy="103969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3E163EA-7EB1-F3D4-1C46-81F27F41CC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38092" y="277829"/>
            <a:ext cx="1557470" cy="900045"/>
          </a:xfrm>
          <a:prstGeom prst="rect">
            <a:avLst/>
          </a:prstGeom>
        </p:spPr>
      </p:pic>
      <p:pic>
        <p:nvPicPr>
          <p:cNvPr id="9" name="Picture 8" descr="A blue text on a black background&#10;&#10;AI-generated content may be incorrect.">
            <a:extLst>
              <a:ext uri="{FF2B5EF4-FFF2-40B4-BE49-F238E27FC236}">
                <a16:creationId xmlns:a16="http://schemas.microsoft.com/office/drawing/2014/main" id="{DF31F17A-3D56-9E43-B95D-BD1EB4DE307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2928" y="6446503"/>
            <a:ext cx="865239" cy="224812"/>
          </a:xfrm>
          <a:prstGeom prst="rect">
            <a:avLst/>
          </a:prstGeom>
        </p:spPr>
      </p:pic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A7F2AB08-35C2-821A-383A-1A5624857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969D9-1E93-457A-98E1-C8EF9D2C13D1}" type="datetime1">
              <a:rPr lang="en-US" sz="1400" smtClean="0">
                <a:solidFill>
                  <a:schemeClr val="accent1">
                    <a:lumMod val="75000"/>
                  </a:schemeClr>
                </a:solidFill>
              </a:rPr>
              <a:t>12/10/2025</a:t>
            </a:fld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BA8B24BF-D2BD-A49A-B1E0-4341CBB80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2B362-07F9-44A9-AAF2-4676A3FE8B5B}" type="slidenum">
              <a:rPr lang="en-US" sz="1400" b="1" smtClean="0">
                <a:solidFill>
                  <a:schemeClr val="accent1">
                    <a:lumMod val="75000"/>
                  </a:schemeClr>
                </a:solidFill>
              </a:rPr>
              <a:t>1</a:t>
            </a:fld>
            <a:endParaRPr lang="en-US" sz="14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69E719C-D6AA-C76A-2A99-9EAAAAD6C1DC}"/>
              </a:ext>
            </a:extLst>
          </p:cNvPr>
          <p:cNvSpPr txBox="1"/>
          <p:nvPr/>
        </p:nvSpPr>
        <p:spPr>
          <a:xfrm>
            <a:off x="3795251" y="632692"/>
            <a:ext cx="460149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/>
              <a:t>Satellite AI Vision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8248899-A112-443C-17E2-1589094955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4960" y="2015613"/>
            <a:ext cx="4251690" cy="338598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F8EBB72-449D-FE32-2129-9C39F628A728}"/>
              </a:ext>
            </a:extLst>
          </p:cNvPr>
          <p:cNvSpPr txBox="1"/>
          <p:nvPr/>
        </p:nvSpPr>
        <p:spPr>
          <a:xfrm>
            <a:off x="5201266" y="2921168"/>
            <a:ext cx="371659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1- Tadrous Adel William</a:t>
            </a:r>
          </a:p>
          <a:p>
            <a:r>
              <a:rPr lang="en-US" sz="2000" dirty="0"/>
              <a:t>2- Maria Ashraf Haleem</a:t>
            </a:r>
          </a:p>
          <a:p>
            <a:r>
              <a:rPr lang="en-US" sz="2000" dirty="0"/>
              <a:t>3- Abdelaziz Hassan Fouad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1B20F46-80C5-018D-485E-C44D29C52249}"/>
              </a:ext>
            </a:extLst>
          </p:cNvPr>
          <p:cNvSpPr txBox="1"/>
          <p:nvPr/>
        </p:nvSpPr>
        <p:spPr>
          <a:xfrm>
            <a:off x="8917859" y="2921167"/>
            <a:ext cx="287770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4- Karen Medhat Zaher</a:t>
            </a:r>
          </a:p>
          <a:p>
            <a:r>
              <a:rPr lang="en-US" sz="2000" dirty="0"/>
              <a:t>5- Mohamed Essam </a:t>
            </a:r>
          </a:p>
          <a:p>
            <a:r>
              <a:rPr lang="en-US" sz="2000" dirty="0"/>
              <a:t>6- Mohamed Kamal</a:t>
            </a:r>
          </a:p>
        </p:txBody>
      </p:sp>
    </p:spTree>
    <p:extLst>
      <p:ext uri="{BB962C8B-B14F-4D97-AF65-F5344CB8AC3E}">
        <p14:creationId xmlns:p14="http://schemas.microsoft.com/office/powerpoint/2010/main" val="25040697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EE10E2-5CC3-D348-5C70-81464DACD1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93D15C6-72C3-A47D-E3F8-8D6228429F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438" y="277829"/>
            <a:ext cx="942978" cy="103969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084A0BF-6497-53F0-0ED7-4C196409AB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38092" y="277829"/>
            <a:ext cx="1557470" cy="900045"/>
          </a:xfrm>
          <a:prstGeom prst="rect">
            <a:avLst/>
          </a:prstGeom>
        </p:spPr>
      </p:pic>
      <p:pic>
        <p:nvPicPr>
          <p:cNvPr id="9" name="Picture 8" descr="A blue text on a black background&#10;&#10;AI-generated content may be incorrect.">
            <a:extLst>
              <a:ext uri="{FF2B5EF4-FFF2-40B4-BE49-F238E27FC236}">
                <a16:creationId xmlns:a16="http://schemas.microsoft.com/office/drawing/2014/main" id="{9F868252-2BBF-8505-6975-C558E585657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2928" y="6446503"/>
            <a:ext cx="865239" cy="224812"/>
          </a:xfrm>
          <a:prstGeom prst="rect">
            <a:avLst/>
          </a:prstGeom>
        </p:spPr>
      </p:pic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C5971EF7-0A46-D8FB-0BD6-98AA224572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969D9-1E93-457A-98E1-C8EF9D2C13D1}" type="datetime1">
              <a:rPr lang="en-US" sz="1400" smtClean="0">
                <a:solidFill>
                  <a:schemeClr val="accent1">
                    <a:lumMod val="75000"/>
                  </a:schemeClr>
                </a:solidFill>
              </a:rPr>
              <a:t>12/10/2025</a:t>
            </a:fld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9B925EC1-0D52-FE43-0B33-4B77B404B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2B362-07F9-44A9-AAF2-4676A3FE8B5B}" type="slidenum">
              <a:rPr lang="en-US" sz="1400" b="1" smtClean="0">
                <a:solidFill>
                  <a:schemeClr val="accent1">
                    <a:lumMod val="75000"/>
                  </a:schemeClr>
                </a:solidFill>
              </a:rPr>
              <a:t>2</a:t>
            </a:fld>
            <a:endParaRPr lang="en-US" sz="14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C7B3E70-3B5B-A958-51D2-1B2387D1C945}"/>
              </a:ext>
            </a:extLst>
          </p:cNvPr>
          <p:cNvSpPr txBox="1"/>
          <p:nvPr/>
        </p:nvSpPr>
        <p:spPr>
          <a:xfrm>
            <a:off x="629880" y="1993204"/>
            <a:ext cx="33626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1"/>
                </a:solidFill>
              </a:rPr>
              <a:t>Problem Definition: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6256E7F-41C0-8785-4555-8A612AFED593}"/>
              </a:ext>
            </a:extLst>
          </p:cNvPr>
          <p:cNvSpPr txBox="1"/>
          <p:nvPr/>
        </p:nvSpPr>
        <p:spPr>
          <a:xfrm>
            <a:off x="530943" y="3068996"/>
            <a:ext cx="478646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Traditional remote sensing methods rely on manual feature extraction, which is time-consuming and limited in handling the high dimensionality of multispectral data, hindering effective urban planning and resource management.</a:t>
            </a:r>
            <a:endParaRPr lang="ar-EG" dirty="0"/>
          </a:p>
        </p:txBody>
      </p:sp>
      <p:pic>
        <p:nvPicPr>
          <p:cNvPr id="6" name="Picture 5" descr="A chart of different colors&#10;&#10;AI-generated content may be incorrect.">
            <a:extLst>
              <a:ext uri="{FF2B5EF4-FFF2-40B4-BE49-F238E27FC236}">
                <a16:creationId xmlns:a16="http://schemas.microsoft.com/office/drawing/2014/main" id="{9F3F9ADA-6532-AC23-5A90-C0725AADC83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7408" y="1917290"/>
            <a:ext cx="6691557" cy="3903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13304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5C3309-89DC-BD6B-A7EC-0B4B229A54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7254FB1-ADB8-24EE-898B-3E48FE090E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438" y="277829"/>
            <a:ext cx="942978" cy="103969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542847D-C0C6-20A2-5240-5A7FD2A0EE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38092" y="277829"/>
            <a:ext cx="1557470" cy="900045"/>
          </a:xfrm>
          <a:prstGeom prst="rect">
            <a:avLst/>
          </a:prstGeom>
        </p:spPr>
      </p:pic>
      <p:pic>
        <p:nvPicPr>
          <p:cNvPr id="9" name="Picture 8" descr="A blue text on a black background&#10;&#10;AI-generated content may be incorrect.">
            <a:extLst>
              <a:ext uri="{FF2B5EF4-FFF2-40B4-BE49-F238E27FC236}">
                <a16:creationId xmlns:a16="http://schemas.microsoft.com/office/drawing/2014/main" id="{307178A5-7141-D190-0CC2-69606433ED7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2928" y="6446503"/>
            <a:ext cx="865239" cy="224812"/>
          </a:xfrm>
          <a:prstGeom prst="rect">
            <a:avLst/>
          </a:prstGeom>
        </p:spPr>
      </p:pic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53C3D1FB-EA16-FE8A-1FAB-26EF5EAE35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969D9-1E93-457A-98E1-C8EF9D2C13D1}" type="datetime1">
              <a:rPr lang="en-US" sz="1400" smtClean="0">
                <a:solidFill>
                  <a:schemeClr val="accent1">
                    <a:lumMod val="75000"/>
                  </a:schemeClr>
                </a:solidFill>
              </a:rPr>
              <a:t>12/10/2025</a:t>
            </a:fld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29FB8BB5-9E4F-695D-BD9A-D4704FE51D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2B362-07F9-44A9-AAF2-4676A3FE8B5B}" type="slidenum">
              <a:rPr lang="en-US" sz="1400" b="1" smtClean="0">
                <a:solidFill>
                  <a:schemeClr val="accent1">
                    <a:lumMod val="75000"/>
                  </a:schemeClr>
                </a:solidFill>
              </a:rPr>
              <a:t>3</a:t>
            </a:fld>
            <a:endParaRPr lang="en-US" sz="14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0230B07-A2D3-554E-6122-C0D58F4B4A21}"/>
              </a:ext>
            </a:extLst>
          </p:cNvPr>
          <p:cNvSpPr txBox="1"/>
          <p:nvPr/>
        </p:nvSpPr>
        <p:spPr>
          <a:xfrm>
            <a:off x="533400" y="1623328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/>
                </a:solidFill>
              </a:rPr>
              <a:t>Project Background &amp; Data Overview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7328CDB-4B4C-D0AE-FF44-A3387637C71C}"/>
              </a:ext>
            </a:extLst>
          </p:cNvPr>
          <p:cNvSpPr txBox="1"/>
          <p:nvPr/>
        </p:nvSpPr>
        <p:spPr>
          <a:xfrm>
            <a:off x="320167" y="2793828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i="1" dirty="0"/>
              <a:t>Objective: </a:t>
            </a:r>
            <a:r>
              <a:rPr lang="en-US" dirty="0"/>
              <a:t>We built a Deep Learning model to automatically classify land into 10 distinct types (e.g., Forests, Industrial, Rivers)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03E2A41-DAA7-B9CB-F497-43C5F9F6E160}"/>
              </a:ext>
            </a:extLst>
          </p:cNvPr>
          <p:cNvSpPr txBox="1"/>
          <p:nvPr/>
        </p:nvSpPr>
        <p:spPr>
          <a:xfrm>
            <a:off x="320167" y="4112545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i="1" dirty="0"/>
              <a:t>Data Source: </a:t>
            </a:r>
            <a:r>
              <a:rPr lang="en-US" dirty="0"/>
              <a:t>utilized the </a:t>
            </a:r>
            <a:r>
              <a:rPr lang="en-US" dirty="0" err="1"/>
              <a:t>EuroSat</a:t>
            </a:r>
            <a:r>
              <a:rPr lang="en-US" dirty="0"/>
              <a:t> Dataset, derived from Sentinel-2 Satellite imagery.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F2DEB2E-3B7A-2094-A388-A34F3319232E}"/>
              </a:ext>
            </a:extLst>
          </p:cNvPr>
          <p:cNvSpPr txBox="1"/>
          <p:nvPr/>
        </p:nvSpPr>
        <p:spPr>
          <a:xfrm>
            <a:off x="389064" y="5091467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i="1" dirty="0"/>
              <a:t>Why It's Special: </a:t>
            </a:r>
            <a:r>
              <a:rPr lang="en-US" dirty="0"/>
              <a:t>The data is Multispectral (13 Bands). It uses invisible Near-Infrared light to detect vegetation health better than the human eye.</a:t>
            </a:r>
          </a:p>
        </p:txBody>
      </p:sp>
      <p:pic>
        <p:nvPicPr>
          <p:cNvPr id="16" name="Picture 15" descr="A chart of data bars&#10;&#10;AI-generated content may be incorrect.">
            <a:extLst>
              <a:ext uri="{FF2B5EF4-FFF2-40B4-BE49-F238E27FC236}">
                <a16:creationId xmlns:a16="http://schemas.microsoft.com/office/drawing/2014/main" id="{09D686BA-2DED-DBC5-EF59-B6CF6A9B91F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6167" y="2646239"/>
            <a:ext cx="5638109" cy="3578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38363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C7850F-F597-EEA3-ABBB-75D307D88C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7AF0EEA-B0DA-5529-9D92-B7938897C2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438" y="277829"/>
            <a:ext cx="942978" cy="103969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47B2C36-7328-8442-9696-918426C1BB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38092" y="277829"/>
            <a:ext cx="1557470" cy="900045"/>
          </a:xfrm>
          <a:prstGeom prst="rect">
            <a:avLst/>
          </a:prstGeom>
        </p:spPr>
      </p:pic>
      <p:pic>
        <p:nvPicPr>
          <p:cNvPr id="9" name="Picture 8" descr="A blue text on a black background&#10;&#10;AI-generated content may be incorrect.">
            <a:extLst>
              <a:ext uri="{FF2B5EF4-FFF2-40B4-BE49-F238E27FC236}">
                <a16:creationId xmlns:a16="http://schemas.microsoft.com/office/drawing/2014/main" id="{DA541581-B84C-C755-4182-823641169DD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2928" y="6446503"/>
            <a:ext cx="865239" cy="224812"/>
          </a:xfrm>
          <a:prstGeom prst="rect">
            <a:avLst/>
          </a:prstGeom>
        </p:spPr>
      </p:pic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96737DF9-A055-6C99-B15B-0BD03AE914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969D9-1E93-457A-98E1-C8EF9D2C13D1}" type="datetime1">
              <a:rPr lang="en-US" sz="1400" smtClean="0">
                <a:solidFill>
                  <a:schemeClr val="accent1">
                    <a:lumMod val="75000"/>
                  </a:schemeClr>
                </a:solidFill>
              </a:rPr>
              <a:t>12/10/2025</a:t>
            </a:fld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53C3BAC6-C81A-760C-5FB1-15D0D3D1C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2B362-07F9-44A9-AAF2-4676A3FE8B5B}" type="slidenum">
              <a:rPr lang="en-US" sz="1400" b="1" smtClean="0">
                <a:solidFill>
                  <a:schemeClr val="accent1">
                    <a:lumMod val="75000"/>
                  </a:schemeClr>
                </a:solidFill>
              </a:rPr>
              <a:t>4</a:t>
            </a:fld>
            <a:endParaRPr lang="en-US" sz="14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E95770D-A995-915C-7DB9-FEE7F022BEE4}"/>
              </a:ext>
            </a:extLst>
          </p:cNvPr>
          <p:cNvSpPr txBox="1"/>
          <p:nvPr/>
        </p:nvSpPr>
        <p:spPr>
          <a:xfrm>
            <a:off x="6128625" y="1856197"/>
            <a:ext cx="5666937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accent1"/>
                </a:solidFill>
              </a:rPr>
              <a:t>proposed solution</a:t>
            </a:r>
            <a:r>
              <a:rPr lang="ar-EG" sz="2000" b="1" dirty="0">
                <a:solidFill>
                  <a:schemeClr val="accent1"/>
                </a:solidFill>
              </a:rPr>
              <a:t> </a:t>
            </a:r>
            <a:r>
              <a:rPr lang="en-US" sz="2000" b="1" dirty="0">
                <a:solidFill>
                  <a:schemeClr val="accent1"/>
                </a:solidFill>
              </a:rPr>
              <a:t>: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Automated System:</a:t>
            </a:r>
            <a:r>
              <a:rPr lang="en-US" dirty="0"/>
              <a:t> Leverages </a:t>
            </a:r>
            <a:r>
              <a:rPr lang="en-US" b="1" dirty="0"/>
              <a:t>EfficientNet-B0</a:t>
            </a:r>
            <a:r>
              <a:rPr lang="en-US" dirty="0"/>
              <a:t> to classify </a:t>
            </a:r>
            <a:r>
              <a:rPr lang="en-US" b="1" dirty="0"/>
              <a:t>Sentinel-2 imagery</a:t>
            </a:r>
            <a:r>
              <a:rPr lang="en-US" dirty="0"/>
              <a:t> into </a:t>
            </a:r>
            <a:r>
              <a:rPr lang="en-US" b="1" dirty="0"/>
              <a:t>10 distinct land cover classes</a:t>
            </a:r>
            <a:r>
              <a:rPr lang="en-US" dirty="0"/>
              <a:t>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459CF0C-1677-1304-8592-2C096777F2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480" y="1910697"/>
            <a:ext cx="5243284" cy="4052064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11567E3-B862-8CFE-028C-1D5005B6828F}"/>
              </a:ext>
            </a:extLst>
          </p:cNvPr>
          <p:cNvSpPr txBox="1"/>
          <p:nvPr/>
        </p:nvSpPr>
        <p:spPr>
          <a:xfrm>
            <a:off x="6096000" y="3936729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Unique value proposition :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Achieved </a:t>
            </a:r>
            <a:r>
              <a:rPr lang="en-US" b="1" dirty="0"/>
              <a:t>97.12% accuracy</a:t>
            </a:r>
            <a:r>
              <a:rPr lang="en-US" dirty="0"/>
              <a:t> using </a:t>
            </a:r>
            <a:r>
              <a:rPr lang="en-US" b="1" dirty="0"/>
              <a:t>EfficientNet-B0</a:t>
            </a:r>
            <a:r>
              <a:rPr lang="en-US" dirty="0"/>
              <a:t>, ensuring high efficiency and low computational cost for scalable deployment.</a:t>
            </a:r>
          </a:p>
        </p:txBody>
      </p:sp>
    </p:spTree>
    <p:extLst>
      <p:ext uri="{BB962C8B-B14F-4D97-AF65-F5344CB8AC3E}">
        <p14:creationId xmlns:p14="http://schemas.microsoft.com/office/powerpoint/2010/main" val="12906986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55BE7C-1F32-48EE-515D-158CB0F835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4EAC56E-8876-8C28-D675-67422371D2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6438" y="277829"/>
            <a:ext cx="942978" cy="103969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771126A-6872-F880-E61C-ACFA4B98D0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38092" y="277829"/>
            <a:ext cx="1557470" cy="900045"/>
          </a:xfrm>
          <a:prstGeom prst="rect">
            <a:avLst/>
          </a:prstGeom>
        </p:spPr>
      </p:pic>
      <p:pic>
        <p:nvPicPr>
          <p:cNvPr id="9" name="Picture 8" descr="A blue text on a black background&#10;&#10;AI-generated content may be incorrect.">
            <a:extLst>
              <a:ext uri="{FF2B5EF4-FFF2-40B4-BE49-F238E27FC236}">
                <a16:creationId xmlns:a16="http://schemas.microsoft.com/office/drawing/2014/main" id="{DB4150DB-D5FC-4D66-FEFE-FA7572F51F7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2928" y="6446503"/>
            <a:ext cx="865239" cy="224812"/>
          </a:xfrm>
          <a:prstGeom prst="rect">
            <a:avLst/>
          </a:prstGeom>
        </p:spPr>
      </p:pic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16D4C75F-E24B-D134-678D-8B7CD04702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969D9-1E93-457A-98E1-C8EF9D2C13D1}" type="datetime1">
              <a:rPr lang="en-US" sz="1400" smtClean="0">
                <a:solidFill>
                  <a:schemeClr val="accent1">
                    <a:lumMod val="75000"/>
                  </a:schemeClr>
                </a:solidFill>
              </a:rPr>
              <a:t>12/10/2025</a:t>
            </a:fld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86B3AEE7-D281-A376-3145-BDA83FC56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2B362-07F9-44A9-AAF2-4676A3FE8B5B}" type="slidenum">
              <a:rPr lang="en-US" sz="1400" b="1" smtClean="0">
                <a:solidFill>
                  <a:schemeClr val="accent1">
                    <a:lumMod val="75000"/>
                  </a:schemeClr>
                </a:solidFill>
              </a:rPr>
              <a:t>5</a:t>
            </a:fld>
            <a:endParaRPr lang="en-US" sz="14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4" name="تالت">
            <a:hlinkClick r:id="" action="ppaction://media"/>
            <a:extLst>
              <a:ext uri="{FF2B5EF4-FFF2-40B4-BE49-F238E27FC236}">
                <a16:creationId xmlns:a16="http://schemas.microsoft.com/office/drawing/2014/main" id="{EA052B5F-B9E4-8BA1-98E6-42E5E2014E7A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1339427" y="1214745"/>
            <a:ext cx="9677400" cy="4724400"/>
          </a:xfrm>
          <a:prstGeom prst="roundRect">
            <a:avLst>
              <a:gd name="adj" fmla="val 5439"/>
            </a:avLst>
          </a:prstGeom>
          <a:ln>
            <a:noFill/>
          </a:ln>
          <a:effectLst>
            <a:innerShdw blurRad="114300" dist="50800">
              <a:srgbClr val="000000">
                <a:alpha val="0"/>
              </a:srgbClr>
            </a:innerShdw>
          </a:effectLst>
        </p:spPr>
      </p:pic>
    </p:spTree>
    <p:extLst>
      <p:ext uri="{BB962C8B-B14F-4D97-AF65-F5344CB8AC3E}">
        <p14:creationId xmlns:p14="http://schemas.microsoft.com/office/powerpoint/2010/main" val="39073847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2346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3F61A4-9091-9421-1862-B8609973C2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1E7E556-86F6-B5A3-952F-E95514476E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438" y="277829"/>
            <a:ext cx="942978" cy="103969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0332835-70BA-EA22-8BD1-0B4C90691C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38092" y="277829"/>
            <a:ext cx="1557470" cy="900045"/>
          </a:xfrm>
          <a:prstGeom prst="rect">
            <a:avLst/>
          </a:prstGeom>
        </p:spPr>
      </p:pic>
      <p:pic>
        <p:nvPicPr>
          <p:cNvPr id="9" name="Picture 8" descr="A blue text on a black background&#10;&#10;AI-generated content may be incorrect.">
            <a:extLst>
              <a:ext uri="{FF2B5EF4-FFF2-40B4-BE49-F238E27FC236}">
                <a16:creationId xmlns:a16="http://schemas.microsoft.com/office/drawing/2014/main" id="{44DD1E1D-4E86-AAAB-1D7E-9E8C8E287C0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2928" y="6446503"/>
            <a:ext cx="865239" cy="224812"/>
          </a:xfrm>
          <a:prstGeom prst="rect">
            <a:avLst/>
          </a:prstGeom>
        </p:spPr>
      </p:pic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63A3C94C-9B90-A65F-F824-FFCB030841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969D9-1E93-457A-98E1-C8EF9D2C13D1}" type="datetime1">
              <a:rPr lang="en-US" sz="1400" smtClean="0">
                <a:solidFill>
                  <a:schemeClr val="accent1">
                    <a:lumMod val="75000"/>
                  </a:schemeClr>
                </a:solidFill>
              </a:rPr>
              <a:t>12/10/2025</a:t>
            </a:fld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4C7E9C8-CBF0-0A18-5039-F3167B52F2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2B362-07F9-44A9-AAF2-4676A3FE8B5B}" type="slidenum">
              <a:rPr lang="en-US" sz="1400" b="1" smtClean="0">
                <a:solidFill>
                  <a:schemeClr val="accent1">
                    <a:lumMod val="75000"/>
                  </a:schemeClr>
                </a:solidFill>
              </a:rPr>
              <a:t>6</a:t>
            </a:fld>
            <a:endParaRPr lang="en-US" sz="14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6" name="Picture 5" descr="A close up of a road&#10;&#10;AI-generated content may be incorrect.">
            <a:extLst>
              <a:ext uri="{FF2B5EF4-FFF2-40B4-BE49-F238E27FC236}">
                <a16:creationId xmlns:a16="http://schemas.microsoft.com/office/drawing/2014/main" id="{67FFB20C-FFA0-5771-3B60-E4085B73A51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5065" y="1965061"/>
            <a:ext cx="2430104" cy="88367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41362FC-CE77-EE61-3291-2AD9D612D0D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05169" y="1884347"/>
            <a:ext cx="2590186" cy="99972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C2F4AAD-9D83-A17D-53BC-BF2B0964983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75065" y="3506882"/>
            <a:ext cx="2272305" cy="88367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4157704-E543-3AD3-3E49-05F0D631D2A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57385" y="3506882"/>
            <a:ext cx="2485754" cy="964865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24674E67-42AC-D67B-5003-330D09F8F8E6}"/>
              </a:ext>
            </a:extLst>
          </p:cNvPr>
          <p:cNvSpPr txBox="1"/>
          <p:nvPr/>
        </p:nvSpPr>
        <p:spPr>
          <a:xfrm>
            <a:off x="336895" y="1683297"/>
            <a:ext cx="6299879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Source: </a:t>
            </a:r>
            <a:r>
              <a:rPr lang="en-US" sz="1600" dirty="0">
                <a:hlinkClick r:id="rId9"/>
              </a:rPr>
              <a:t>https://github.com/Tadrous701/DEPI-final-Project-        Graduation/releases/tag/v1.0.0</a:t>
            </a:r>
            <a:endParaRPr lang="ar-EG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ar-EG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Scale: </a:t>
            </a:r>
            <a:r>
              <a:rPr lang="en-US" sz="1600" dirty="0"/>
              <a:t>Comprises 27,000 labeled images covering 10 distinct land cover classes (e.g., Forest, Industrial).</a:t>
            </a:r>
            <a:endParaRPr lang="ar-EG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ar-EG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Spectral Depth: </a:t>
            </a:r>
            <a:r>
              <a:rPr lang="en-US" sz="1600" dirty="0"/>
              <a:t>Includes 13 multispectral bands (Visible + Near-Infrared) for enhanced feature detection.</a:t>
            </a:r>
            <a:endParaRPr lang="ar-EG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ar-EG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Balance: </a:t>
            </a:r>
            <a:r>
              <a:rPr lang="en-US" sz="1600" dirty="0"/>
              <a:t>A perfectly balanced dataset (~2,000–3,000 images/class), preventing model bias.</a:t>
            </a:r>
            <a:endParaRPr lang="ar-EG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ar-EG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Technologies </a:t>
            </a:r>
            <a:r>
              <a:rPr lang="en-US" sz="1600" b="1" dirty="0" err="1"/>
              <a:t>Used:</a:t>
            </a:r>
            <a:r>
              <a:rPr lang="en-US" sz="1600" dirty="0" err="1"/>
              <a:t>Pandas</a:t>
            </a:r>
            <a:r>
              <a:rPr lang="en-US" sz="1600" dirty="0"/>
              <a:t> &amp; NumPy (Data Handling &amp; Loading)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EBD86B5-AAB8-3030-0E21-2A8874DF4525}"/>
              </a:ext>
            </a:extLst>
          </p:cNvPr>
          <p:cNvSpPr txBox="1"/>
          <p:nvPr/>
        </p:nvSpPr>
        <p:spPr>
          <a:xfrm>
            <a:off x="3588774" y="583181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/>
                </a:solidFill>
              </a:rPr>
              <a:t>Data Acquisition &amp; Collection</a:t>
            </a:r>
          </a:p>
        </p:txBody>
      </p:sp>
    </p:spTree>
    <p:extLst>
      <p:ext uri="{BB962C8B-B14F-4D97-AF65-F5344CB8AC3E}">
        <p14:creationId xmlns:p14="http://schemas.microsoft.com/office/powerpoint/2010/main" val="3264684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04B6EA-C5C6-6D3A-05EB-6F2EDA8538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86C8744-1ABD-568D-340A-7DF290CAEC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438" y="277829"/>
            <a:ext cx="942978" cy="103969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E2C614F-43A8-0BF4-89BB-E98BCE9B00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38092" y="277829"/>
            <a:ext cx="1557470" cy="900045"/>
          </a:xfrm>
          <a:prstGeom prst="rect">
            <a:avLst/>
          </a:prstGeom>
        </p:spPr>
      </p:pic>
      <p:pic>
        <p:nvPicPr>
          <p:cNvPr id="9" name="Picture 8" descr="A blue text on a black background&#10;&#10;AI-generated content may be incorrect.">
            <a:extLst>
              <a:ext uri="{FF2B5EF4-FFF2-40B4-BE49-F238E27FC236}">
                <a16:creationId xmlns:a16="http://schemas.microsoft.com/office/drawing/2014/main" id="{B50D44F6-43DE-3718-2419-15F34F804BE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2928" y="6446503"/>
            <a:ext cx="865239" cy="224812"/>
          </a:xfrm>
          <a:prstGeom prst="rect">
            <a:avLst/>
          </a:prstGeom>
        </p:spPr>
      </p:pic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F8947D22-6851-5AC6-8AD1-FCA6F6FAD0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969D9-1E93-457A-98E1-C8EF9D2C13D1}" type="datetime1">
              <a:rPr lang="en-US" sz="1400" smtClean="0">
                <a:solidFill>
                  <a:schemeClr val="accent1">
                    <a:lumMod val="75000"/>
                  </a:schemeClr>
                </a:solidFill>
              </a:rPr>
              <a:t>12/10/2025</a:t>
            </a:fld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DE2C74D1-A19E-66A4-1D1C-2B2A341F1A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2B362-07F9-44A9-AAF2-4676A3FE8B5B}" type="slidenum">
              <a:rPr lang="en-US" sz="1400" b="1" smtClean="0">
                <a:solidFill>
                  <a:schemeClr val="accent1">
                    <a:lumMod val="75000"/>
                  </a:schemeClr>
                </a:solidFill>
              </a:rPr>
              <a:t>7</a:t>
            </a:fld>
            <a:endParaRPr lang="en-US" sz="14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B591129-4D83-8F5D-F388-7C4B4953EA9D}"/>
              </a:ext>
            </a:extLst>
          </p:cNvPr>
          <p:cNvSpPr txBox="1"/>
          <p:nvPr/>
        </p:nvSpPr>
        <p:spPr>
          <a:xfrm>
            <a:off x="5911122" y="2032430"/>
            <a:ext cx="5565058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Spectral Analysis: </a:t>
            </a:r>
            <a:r>
              <a:rPr lang="en-US" dirty="0"/>
              <a:t>We analyzed 13 distinct bands to identify unique "signatures" for each land type (e.g., Vegetation vs. Water) 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Image Enhancement: </a:t>
            </a:r>
            <a:r>
              <a:rPr lang="en-US" dirty="0"/>
              <a:t>Applied Contrast Stretching to convert dark, raw satellite data into clear, human-readable images.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Data Splitting: </a:t>
            </a:r>
            <a:r>
              <a:rPr lang="en-US" dirty="0"/>
              <a:t>Rigorously split data into Train (60%), Validation (20%), and Test (20%) to ensure valid results.</a:t>
            </a:r>
          </a:p>
        </p:txBody>
      </p:sp>
      <p:pic>
        <p:nvPicPr>
          <p:cNvPr id="6" name="Picture 5" descr="A graph showing different colored lines&#10;&#10;AI-generated content may be incorrect.">
            <a:extLst>
              <a:ext uri="{FF2B5EF4-FFF2-40B4-BE49-F238E27FC236}">
                <a16:creationId xmlns:a16="http://schemas.microsoft.com/office/drawing/2014/main" id="{74A74F9A-E494-2790-2697-F1533DED660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298" y="2099198"/>
            <a:ext cx="5351910" cy="3027537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433ADC73-64CD-2A86-F531-E0074B0BF987}"/>
              </a:ext>
            </a:extLst>
          </p:cNvPr>
          <p:cNvSpPr txBox="1"/>
          <p:nvPr/>
        </p:nvSpPr>
        <p:spPr>
          <a:xfrm>
            <a:off x="5911122" y="1503279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accent1"/>
                </a:solidFill>
              </a:rPr>
              <a:t>Data Exploration &amp; Spectral Analysis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5D4C842-99D5-78AE-3526-F55173CA6CA1}"/>
              </a:ext>
            </a:extLst>
          </p:cNvPr>
          <p:cNvSpPr txBox="1"/>
          <p:nvPr/>
        </p:nvSpPr>
        <p:spPr>
          <a:xfrm>
            <a:off x="5911122" y="5199947"/>
            <a:ext cx="628087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Technologies Used:</a:t>
            </a:r>
            <a:r>
              <a:rPr lang="en-US" sz="1600" dirty="0"/>
              <a:t> Core analysis relied on the </a:t>
            </a:r>
            <a:r>
              <a:rPr lang="en-US" sz="1600" b="1" dirty="0"/>
              <a:t>Python Data Stack</a:t>
            </a:r>
            <a:r>
              <a:rPr lang="en-US" sz="1600" dirty="0"/>
              <a:t> (</a:t>
            </a:r>
            <a:r>
              <a:rPr lang="en-US" sz="1600" b="1" dirty="0"/>
              <a:t>NumPy, Pandas</a:t>
            </a:r>
            <a:r>
              <a:rPr lang="en-US" sz="1600" dirty="0"/>
              <a:t>) and visualization libraries (</a:t>
            </a:r>
            <a:r>
              <a:rPr lang="en-US" sz="1600" b="1" dirty="0"/>
              <a:t>Matplotlib, Seaborn</a:t>
            </a:r>
            <a:r>
              <a:rPr lang="en-US" sz="1600" dirty="0"/>
              <a:t>) for calculating and plotting </a:t>
            </a:r>
            <a:r>
              <a:rPr lang="en-US" sz="1600" b="1" dirty="0"/>
              <a:t>NDVI/Spectral Signatures</a:t>
            </a:r>
            <a:r>
              <a:rPr lang="en-US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993567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F67D40-68D8-C19B-9115-66F3F7CD4B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A8BF6EB-1D7E-D0B2-792B-F5DEB7665A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438" y="277829"/>
            <a:ext cx="942978" cy="103969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BBB9C03-1DC7-A376-0264-E86C5548E8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38092" y="277829"/>
            <a:ext cx="1557470" cy="900045"/>
          </a:xfrm>
          <a:prstGeom prst="rect">
            <a:avLst/>
          </a:prstGeom>
        </p:spPr>
      </p:pic>
      <p:pic>
        <p:nvPicPr>
          <p:cNvPr id="9" name="Picture 8" descr="A blue text on a black background&#10;&#10;AI-generated content may be incorrect.">
            <a:extLst>
              <a:ext uri="{FF2B5EF4-FFF2-40B4-BE49-F238E27FC236}">
                <a16:creationId xmlns:a16="http://schemas.microsoft.com/office/drawing/2014/main" id="{FFF2F06A-5F93-B088-E735-78550E2387C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9070" y="6467765"/>
            <a:ext cx="865239" cy="224812"/>
          </a:xfrm>
          <a:prstGeom prst="rect">
            <a:avLst/>
          </a:prstGeom>
        </p:spPr>
      </p:pic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8A113F01-D722-8B18-5C10-4639613991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969D9-1E93-457A-98E1-C8EF9D2C13D1}" type="datetime1">
              <a:rPr lang="en-US" sz="1400" smtClean="0">
                <a:solidFill>
                  <a:schemeClr val="accent1">
                    <a:lumMod val="75000"/>
                  </a:schemeClr>
                </a:solidFill>
              </a:rPr>
              <a:t>12/10/2025</a:t>
            </a:fld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964F820E-5613-A19F-3EDB-0A1899423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14439" y="6356350"/>
            <a:ext cx="2743200" cy="365125"/>
          </a:xfrm>
        </p:spPr>
        <p:txBody>
          <a:bodyPr/>
          <a:lstStyle/>
          <a:p>
            <a:fld id="{65E2B362-07F9-44A9-AAF2-4676A3FE8B5B}" type="slidenum">
              <a:rPr lang="en-US" sz="1400" b="1" smtClean="0">
                <a:solidFill>
                  <a:schemeClr val="accent1">
                    <a:lumMod val="75000"/>
                  </a:schemeClr>
                </a:solidFill>
              </a:rPr>
              <a:t>8</a:t>
            </a:fld>
            <a:endParaRPr lang="en-US" sz="14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D5BBDE-DFDE-E534-9FA1-D686624E5C56}"/>
              </a:ext>
            </a:extLst>
          </p:cNvPr>
          <p:cNvSpPr txBox="1"/>
          <p:nvPr/>
        </p:nvSpPr>
        <p:spPr>
          <a:xfrm>
            <a:off x="5941102" y="1489659"/>
            <a:ext cx="625089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The Algorithm Baseline</a:t>
            </a: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928599E1-61A9-5B1C-C9FF-5F30AF1EE8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24295" y="2266500"/>
            <a:ext cx="5580287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Initial Benchmark: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We established a performance baseline using traditional Machine Learning (ML) algorithms.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DA9A563-57DD-3435-F91B-98319FB84AE1}"/>
              </a:ext>
            </a:extLst>
          </p:cNvPr>
          <p:cNvSpPr txBox="1"/>
          <p:nvPr/>
        </p:nvSpPr>
        <p:spPr>
          <a:xfrm>
            <a:off x="5941102" y="3239789"/>
            <a:ext cx="619843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Best Result:</a:t>
            </a:r>
            <a:r>
              <a:rPr lang="en-US" dirty="0"/>
              <a:t> The </a:t>
            </a:r>
            <a:r>
              <a:rPr lang="en-US" b="1" dirty="0"/>
              <a:t>Random Forest</a:t>
            </a:r>
            <a:r>
              <a:rPr lang="en-US" dirty="0"/>
              <a:t> model achieved the highest traditional accuracy, reaching </a:t>
            </a:r>
            <a:r>
              <a:rPr lang="en-US" b="1" dirty="0"/>
              <a:t>81.3%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7A2ACE1-8AB6-9EC4-5DE7-C3311BE32B48}"/>
              </a:ext>
            </a:extLst>
          </p:cNvPr>
          <p:cNvSpPr txBox="1"/>
          <p:nvPr/>
        </p:nvSpPr>
        <p:spPr>
          <a:xfrm>
            <a:off x="5888636" y="4099260"/>
            <a:ext cx="625089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The Limitation:</a:t>
            </a:r>
            <a:r>
              <a:rPr lang="en-US" dirty="0"/>
              <a:t> These models relied on </a:t>
            </a:r>
            <a:r>
              <a:rPr lang="en-US" b="1" dirty="0"/>
              <a:t>manual feature extraction</a:t>
            </a:r>
            <a:r>
              <a:rPr lang="en-US" dirty="0"/>
              <a:t> and failed to capture the complex patterns in the raw multispectral data.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70A5EF3-187E-1018-10F2-73F2AF7C73B2}"/>
              </a:ext>
            </a:extLst>
          </p:cNvPr>
          <p:cNvSpPr txBox="1"/>
          <p:nvPr/>
        </p:nvSpPr>
        <p:spPr>
          <a:xfrm>
            <a:off x="5862403" y="5159400"/>
            <a:ext cx="625089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The Shift:</a:t>
            </a:r>
            <a:r>
              <a:rPr lang="en-US" dirty="0"/>
              <a:t> The </a:t>
            </a:r>
            <a:r>
              <a:rPr lang="en-US" b="1" dirty="0"/>
              <a:t>81.3% accuracy was suboptimal</a:t>
            </a:r>
            <a:r>
              <a:rPr lang="en-US" dirty="0"/>
              <a:t>, demanding a necessary transition to </a:t>
            </a:r>
            <a:r>
              <a:rPr lang="en-US" b="1" dirty="0"/>
              <a:t>Convolutional Neural Networks (CNNs)</a:t>
            </a:r>
            <a:r>
              <a:rPr lang="en-US" dirty="0"/>
              <a:t> for superior, automated learning.</a:t>
            </a:r>
          </a:p>
        </p:txBody>
      </p:sp>
      <p:pic>
        <p:nvPicPr>
          <p:cNvPr id="19" name="Picture 18" descr="A graph of different colored rectangular shapes&#10;&#10;AI-generated content may be incorrect.">
            <a:extLst>
              <a:ext uri="{FF2B5EF4-FFF2-40B4-BE49-F238E27FC236}">
                <a16:creationId xmlns:a16="http://schemas.microsoft.com/office/drawing/2014/main" id="{FA317B06-25FD-9E65-9E86-FF673B5CDC0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7418" y="1951324"/>
            <a:ext cx="4678180" cy="4164663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35284171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EC85F8-38A7-FA92-17DF-8CE232CD9C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69AAE4E-E65A-E70D-649A-FC93A1BFD5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438" y="277829"/>
            <a:ext cx="942978" cy="103969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0936248-B165-4B4F-3DCF-4C473EFB52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38092" y="277829"/>
            <a:ext cx="1557470" cy="900045"/>
          </a:xfrm>
          <a:prstGeom prst="rect">
            <a:avLst/>
          </a:prstGeom>
        </p:spPr>
      </p:pic>
      <p:pic>
        <p:nvPicPr>
          <p:cNvPr id="9" name="Picture 8" descr="A blue text on a black background&#10;&#10;AI-generated content may be incorrect.">
            <a:extLst>
              <a:ext uri="{FF2B5EF4-FFF2-40B4-BE49-F238E27FC236}">
                <a16:creationId xmlns:a16="http://schemas.microsoft.com/office/drawing/2014/main" id="{CBA8B74F-D662-FF78-15ED-1E5CF30314B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2928" y="6446503"/>
            <a:ext cx="865239" cy="224812"/>
          </a:xfrm>
          <a:prstGeom prst="rect">
            <a:avLst/>
          </a:prstGeom>
        </p:spPr>
      </p:pic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5D11554C-8486-BB92-F0D1-4E832347F1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969D9-1E93-457A-98E1-C8EF9D2C13D1}" type="datetime1">
              <a:rPr lang="en-US" sz="1400" smtClean="0">
                <a:solidFill>
                  <a:schemeClr val="accent1">
                    <a:lumMod val="75000"/>
                  </a:schemeClr>
                </a:solidFill>
              </a:rPr>
              <a:t>12/10/2025</a:t>
            </a:fld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0DD23E05-11EA-C18A-202A-B6009E337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2B362-07F9-44A9-AAF2-4676A3FE8B5B}" type="slidenum">
              <a:rPr lang="en-US" sz="1400" b="1" smtClean="0">
                <a:solidFill>
                  <a:schemeClr val="accent1">
                    <a:lumMod val="75000"/>
                  </a:schemeClr>
                </a:solidFill>
              </a:rPr>
              <a:t>9</a:t>
            </a:fld>
            <a:endParaRPr lang="en-US" sz="14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C248754-215D-1488-0181-A45A91248750}"/>
              </a:ext>
            </a:extLst>
          </p:cNvPr>
          <p:cNvSpPr txBox="1"/>
          <p:nvPr/>
        </p:nvSpPr>
        <p:spPr>
          <a:xfrm>
            <a:off x="6236674" y="1487401"/>
            <a:ext cx="430157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i="0" dirty="0">
                <a:solidFill>
                  <a:schemeClr val="accent1"/>
                </a:solidFill>
                <a:effectLst/>
                <a:latin typeface="Google Sans Flex"/>
              </a:rPr>
              <a:t>Model Selection</a:t>
            </a:r>
            <a:endParaRPr lang="en-US" sz="2400" dirty="0">
              <a:solidFill>
                <a:schemeClr val="accent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522EAE4-3333-1C31-A761-A099F958622B}"/>
              </a:ext>
            </a:extLst>
          </p:cNvPr>
          <p:cNvSpPr txBox="1"/>
          <p:nvPr/>
        </p:nvSpPr>
        <p:spPr>
          <a:xfrm>
            <a:off x="5976080" y="2224975"/>
            <a:ext cx="60935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Architectures Tested:</a:t>
            </a:r>
            <a:r>
              <a:rPr lang="en-US" dirty="0"/>
              <a:t> We compared two advanced architectures: </a:t>
            </a:r>
            <a:r>
              <a:rPr lang="en-US" b="1" dirty="0"/>
              <a:t>ResNet-50</a:t>
            </a:r>
            <a:r>
              <a:rPr lang="en-US" dirty="0"/>
              <a:t> and the newer </a:t>
            </a:r>
            <a:r>
              <a:rPr lang="en-US" b="1" dirty="0"/>
              <a:t>EfficientNet-B0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380A102-AB38-BBB5-83CD-174E32974EFB}"/>
              </a:ext>
            </a:extLst>
          </p:cNvPr>
          <p:cNvSpPr txBox="1"/>
          <p:nvPr/>
        </p:nvSpPr>
        <p:spPr>
          <a:xfrm>
            <a:off x="5976080" y="3054737"/>
            <a:ext cx="610099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The Best Fit:</a:t>
            </a:r>
            <a:r>
              <a:rPr lang="en-US" dirty="0"/>
              <a:t> </a:t>
            </a:r>
            <a:r>
              <a:rPr lang="en-US" b="1" dirty="0"/>
              <a:t>EfficientNet-B0</a:t>
            </a:r>
            <a:r>
              <a:rPr lang="en-US" dirty="0"/>
              <a:t> was selected as the optimal model for its balance of </a:t>
            </a:r>
            <a:r>
              <a:rPr lang="en-US" b="1" dirty="0"/>
              <a:t>high accuracy</a:t>
            </a:r>
            <a:r>
              <a:rPr lang="en-US" dirty="0"/>
              <a:t> and </a:t>
            </a:r>
            <a:r>
              <a:rPr lang="en-US" b="1" dirty="0"/>
              <a:t>superior computational efficiency</a:t>
            </a:r>
            <a:r>
              <a:rPr lang="en-US" dirty="0"/>
              <a:t>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82C8347-B5B7-FA02-4DA1-0AF384C41C8B}"/>
              </a:ext>
            </a:extLst>
          </p:cNvPr>
          <p:cNvSpPr txBox="1"/>
          <p:nvPr/>
        </p:nvSpPr>
        <p:spPr>
          <a:xfrm>
            <a:off x="5976080" y="4207429"/>
            <a:ext cx="610099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The Advantage:</a:t>
            </a:r>
            <a:r>
              <a:rPr lang="en-US" dirty="0"/>
              <a:t> </a:t>
            </a:r>
            <a:r>
              <a:rPr lang="en-US" dirty="0" err="1"/>
              <a:t>EfficientNet</a:t>
            </a:r>
            <a:r>
              <a:rPr lang="en-US" dirty="0"/>
              <a:t> uses </a:t>
            </a:r>
            <a:r>
              <a:rPr lang="en-US" b="1" dirty="0"/>
              <a:t>Compound Scaling</a:t>
            </a:r>
            <a:r>
              <a:rPr lang="en-US" dirty="0"/>
              <a:t> to simultaneously optimize the model's depth, width, and resolution.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0D4FD930-3D88-54A9-8A4D-0531B90F53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158" y="1949066"/>
            <a:ext cx="5100115" cy="30126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A2BC7111-97A5-66A6-3FFC-0C194587AA0A}"/>
              </a:ext>
            </a:extLst>
          </p:cNvPr>
          <p:cNvSpPr txBox="1"/>
          <p:nvPr/>
        </p:nvSpPr>
        <p:spPr>
          <a:xfrm>
            <a:off x="5983576" y="5226051"/>
            <a:ext cx="60935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Technologies Used: </a:t>
            </a:r>
            <a:r>
              <a:rPr lang="en-US" dirty="0"/>
              <a:t>utilized the </a:t>
            </a:r>
            <a:r>
              <a:rPr lang="en-US" b="1" dirty="0" err="1"/>
              <a:t>PyTorch</a:t>
            </a:r>
            <a:r>
              <a:rPr lang="en-US" dirty="0"/>
              <a:t> framework and employed </a:t>
            </a:r>
            <a:r>
              <a:rPr lang="en-US" b="1" dirty="0"/>
              <a:t>Transfer Learning</a:t>
            </a:r>
            <a:r>
              <a:rPr lang="en-US" dirty="0"/>
              <a:t> to optimize the final </a:t>
            </a:r>
            <a:r>
              <a:rPr lang="en-US" b="1" dirty="0"/>
              <a:t>EfficientNet-B0</a:t>
            </a:r>
            <a:r>
              <a:rPr lang="en-US" dirty="0"/>
              <a:t> architecture</a:t>
            </a:r>
          </a:p>
        </p:txBody>
      </p:sp>
    </p:spTree>
    <p:extLst>
      <p:ext uri="{BB962C8B-B14F-4D97-AF65-F5344CB8AC3E}">
        <p14:creationId xmlns:p14="http://schemas.microsoft.com/office/powerpoint/2010/main" val="11899351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08C22A-BE37-2B36-1A50-7A3C049C04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1616158-65C7-A99A-1803-85F7DC2CF4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438" y="277829"/>
            <a:ext cx="942978" cy="103969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05F7CF2-04C2-5941-6AA5-DD9D26A18C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38092" y="277829"/>
            <a:ext cx="1557470" cy="900045"/>
          </a:xfrm>
          <a:prstGeom prst="rect">
            <a:avLst/>
          </a:prstGeom>
        </p:spPr>
      </p:pic>
      <p:pic>
        <p:nvPicPr>
          <p:cNvPr id="9" name="Picture 8" descr="A blue text on a black background&#10;&#10;AI-generated content may be incorrect.">
            <a:extLst>
              <a:ext uri="{FF2B5EF4-FFF2-40B4-BE49-F238E27FC236}">
                <a16:creationId xmlns:a16="http://schemas.microsoft.com/office/drawing/2014/main" id="{1F91D0E5-51E2-EC70-973D-2ED0D6C7733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2928" y="6446503"/>
            <a:ext cx="865239" cy="224812"/>
          </a:xfrm>
          <a:prstGeom prst="rect">
            <a:avLst/>
          </a:prstGeom>
        </p:spPr>
      </p:pic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20015303-F9E8-98AC-2D78-0C8A3EDDA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969D9-1E93-457A-98E1-C8EF9D2C13D1}" type="datetime1">
              <a:rPr lang="en-US" sz="1400" smtClean="0">
                <a:solidFill>
                  <a:schemeClr val="accent1">
                    <a:lumMod val="75000"/>
                  </a:schemeClr>
                </a:solidFill>
              </a:rPr>
              <a:t>12/10/2025</a:t>
            </a:fld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825D4EC8-9CE7-89B4-8A51-898B6F5C1D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2B362-07F9-44A9-AAF2-4676A3FE8B5B}" type="slidenum">
              <a:rPr lang="en-US" sz="1400" b="1" smtClean="0">
                <a:solidFill>
                  <a:schemeClr val="accent1">
                    <a:lumMod val="75000"/>
                  </a:schemeClr>
                </a:solidFill>
              </a:rPr>
              <a:t>10</a:t>
            </a:fld>
            <a:endParaRPr lang="en-US" sz="14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C45E279-506E-856E-43DE-D1CF55917E6E}"/>
              </a:ext>
            </a:extLst>
          </p:cNvPr>
          <p:cNvSpPr txBox="1"/>
          <p:nvPr/>
        </p:nvSpPr>
        <p:spPr>
          <a:xfrm>
            <a:off x="1217951" y="1546698"/>
            <a:ext cx="60935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Project Deliverables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2F260D3-23A2-ED1B-8E13-080B50CCCE99}"/>
              </a:ext>
            </a:extLst>
          </p:cNvPr>
          <p:cNvSpPr txBox="1"/>
          <p:nvPr/>
        </p:nvSpPr>
        <p:spPr>
          <a:xfrm>
            <a:off x="1217950" y="2237539"/>
            <a:ext cx="98591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A functional Beta prototype: </a:t>
            </a:r>
            <a:r>
              <a:rPr lang="en-US" dirty="0"/>
              <a:t>is deployed on </a:t>
            </a:r>
            <a:r>
              <a:rPr lang="en-US" b="1" dirty="0"/>
              <a:t>Hugging Face Spaces</a:t>
            </a:r>
            <a:r>
              <a:rPr lang="en-US" dirty="0"/>
              <a:t> using </a:t>
            </a:r>
            <a:r>
              <a:rPr lang="en-US" b="1" dirty="0" err="1"/>
              <a:t>Gradio</a:t>
            </a:r>
            <a:r>
              <a:rPr lang="en-US" dirty="0"/>
              <a:t>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D3C6368-3754-5931-B08B-B518CF2F29CB}"/>
              </a:ext>
            </a:extLst>
          </p:cNvPr>
          <p:cNvSpPr txBox="1"/>
          <p:nvPr/>
        </p:nvSpPr>
        <p:spPr>
          <a:xfrm>
            <a:off x="1217949" y="3029596"/>
            <a:ext cx="102407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Trained Model Weights:</a:t>
            </a:r>
            <a:r>
              <a:rPr lang="en-US" dirty="0"/>
              <a:t> The final optimized </a:t>
            </a:r>
            <a:r>
              <a:rPr lang="en-US" b="1" dirty="0"/>
              <a:t>EfficientNet-B0</a:t>
            </a:r>
            <a:r>
              <a:rPr lang="en-US" dirty="0"/>
              <a:t> model file is ready for production use.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D3552C1-63EA-FF15-BB54-EE9FA1EBDAB2}"/>
              </a:ext>
            </a:extLst>
          </p:cNvPr>
          <p:cNvSpPr txBox="1"/>
          <p:nvPr/>
        </p:nvSpPr>
        <p:spPr>
          <a:xfrm>
            <a:off x="1217949" y="3821653"/>
            <a:ext cx="98591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Source Code Repository:</a:t>
            </a:r>
            <a:r>
              <a:rPr lang="en-US" dirty="0"/>
              <a:t> The complete codebase for the data pipeline and model inference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557DD4D-2109-76CD-D0F8-55295D4CE2B2}"/>
              </a:ext>
            </a:extLst>
          </p:cNvPr>
          <p:cNvSpPr txBox="1"/>
          <p:nvPr/>
        </p:nvSpPr>
        <p:spPr>
          <a:xfrm>
            <a:off x="1217949" y="4464671"/>
            <a:ext cx="961931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Technical Report:</a:t>
            </a:r>
            <a:r>
              <a:rPr lang="en-US" dirty="0"/>
              <a:t> A comprehensive document detailing the preprocessing pipeline and EfficientNet-B0 architecture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0D95855-749F-FE40-6FBE-2328045BD4A5}"/>
              </a:ext>
            </a:extLst>
          </p:cNvPr>
          <p:cNvSpPr txBox="1"/>
          <p:nvPr/>
        </p:nvSpPr>
        <p:spPr>
          <a:xfrm>
            <a:off x="1217951" y="5340687"/>
            <a:ext cx="997095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Project Documentation:</a:t>
            </a:r>
            <a:r>
              <a:rPr lang="en-US" dirty="0"/>
              <a:t> Documentation covering the implementation strategy and user guidelines</a:t>
            </a:r>
          </a:p>
        </p:txBody>
      </p:sp>
    </p:spTree>
    <p:extLst>
      <p:ext uri="{BB962C8B-B14F-4D97-AF65-F5344CB8AC3E}">
        <p14:creationId xmlns:p14="http://schemas.microsoft.com/office/powerpoint/2010/main" val="37506459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98EAD3-8570-D5CA-E439-E5EA0F1AC9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A69924F-C466-05BF-77EE-1E7B7CAB66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438" y="277829"/>
            <a:ext cx="942978" cy="103969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4C34CDF-7F45-6098-B7FE-AB51692B39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38092" y="277829"/>
            <a:ext cx="1557470" cy="900045"/>
          </a:xfrm>
          <a:prstGeom prst="rect">
            <a:avLst/>
          </a:prstGeom>
        </p:spPr>
      </p:pic>
      <p:pic>
        <p:nvPicPr>
          <p:cNvPr id="9" name="Picture 8" descr="A blue text on a black background&#10;&#10;AI-generated content may be incorrect.">
            <a:extLst>
              <a:ext uri="{FF2B5EF4-FFF2-40B4-BE49-F238E27FC236}">
                <a16:creationId xmlns:a16="http://schemas.microsoft.com/office/drawing/2014/main" id="{5FB94C4E-32A2-CBE8-7ED8-F07EAFCC041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2928" y="6446503"/>
            <a:ext cx="865239" cy="224812"/>
          </a:xfrm>
          <a:prstGeom prst="rect">
            <a:avLst/>
          </a:prstGeom>
        </p:spPr>
      </p:pic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6900A948-2428-CA9B-A521-157ED839F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969D9-1E93-457A-98E1-C8EF9D2C13D1}" type="datetime1">
              <a:rPr lang="en-US" sz="1400" smtClean="0">
                <a:solidFill>
                  <a:schemeClr val="accent1">
                    <a:lumMod val="75000"/>
                  </a:schemeClr>
                </a:solidFill>
              </a:rPr>
              <a:t>12/10/2025</a:t>
            </a:fld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440F2A33-585A-16AD-A55B-C4C7726470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E2B362-07F9-44A9-AAF2-4676A3FE8B5B}" type="slidenum">
              <a:rPr lang="en-US" sz="1400" b="1" smtClean="0">
                <a:solidFill>
                  <a:schemeClr val="accent1">
                    <a:lumMod val="75000"/>
                  </a:schemeClr>
                </a:solidFill>
              </a:rPr>
              <a:t>11</a:t>
            </a:fld>
            <a:endParaRPr lang="en-US" sz="14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50E5CA-7D1B-E129-E290-E432B27915B4}"/>
              </a:ext>
            </a:extLst>
          </p:cNvPr>
          <p:cNvSpPr txBox="1"/>
          <p:nvPr/>
        </p:nvSpPr>
        <p:spPr>
          <a:xfrm>
            <a:off x="2209800" y="2504512"/>
            <a:ext cx="712592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5400" b="1" dirty="0">
                <a:latin typeface="Aptos Black" panose="020F0502020204030204" pitchFamily="34" charset="0"/>
              </a:rPr>
              <a:t>Thank you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C660A00-EC0A-36EC-8A22-FAE07AADA6A3}"/>
              </a:ext>
            </a:extLst>
          </p:cNvPr>
          <p:cNvSpPr txBox="1"/>
          <p:nvPr/>
        </p:nvSpPr>
        <p:spPr>
          <a:xfrm>
            <a:off x="776990" y="4707430"/>
            <a:ext cx="60935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/>
              <a:t>Email:</a:t>
            </a:r>
            <a:r>
              <a:rPr lang="en-US" sz="1800" dirty="0"/>
              <a:t> </a:t>
            </a:r>
            <a:r>
              <a:rPr lang="en-US" sz="1800" dirty="0">
                <a:hlinkClick r:id="rId5"/>
              </a:rPr>
              <a:t>tadoadel2005@gmail.com</a:t>
            </a:r>
            <a:endParaRPr lang="en-US" sz="18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B194602-2958-9F8D-9C23-7EA5B710EBD6}"/>
              </a:ext>
            </a:extLst>
          </p:cNvPr>
          <p:cNvSpPr txBox="1"/>
          <p:nvPr/>
        </p:nvSpPr>
        <p:spPr>
          <a:xfrm>
            <a:off x="776990" y="5286584"/>
            <a:ext cx="60935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/>
              <a:t>We are now open to any questions or feedback you may have</a:t>
            </a:r>
          </a:p>
        </p:txBody>
      </p:sp>
    </p:spTree>
    <p:extLst>
      <p:ext uri="{BB962C8B-B14F-4D97-AF65-F5344CB8AC3E}">
        <p14:creationId xmlns:p14="http://schemas.microsoft.com/office/powerpoint/2010/main" val="22845660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222</TotalTime>
  <Words>646</Words>
  <Application>Microsoft Office PowerPoint</Application>
  <PresentationFormat>Widescreen</PresentationFormat>
  <Paragraphs>77</Paragraphs>
  <Slides>11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Aptos</vt:lpstr>
      <vt:lpstr>Aptos Black</vt:lpstr>
      <vt:lpstr>Aptos Display</vt:lpstr>
      <vt:lpstr>Arial</vt:lpstr>
      <vt:lpstr>Google Sans Flex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Maria Ashraf</dc:creator>
  <cp:lastModifiedBy>Maria Ashraf</cp:lastModifiedBy>
  <cp:revision>9</cp:revision>
  <dcterms:created xsi:type="dcterms:W3CDTF">2025-12-05T09:34:01Z</dcterms:created>
  <dcterms:modified xsi:type="dcterms:W3CDTF">2025-12-10T13:28:01Z</dcterms:modified>
</cp:coreProperties>
</file>